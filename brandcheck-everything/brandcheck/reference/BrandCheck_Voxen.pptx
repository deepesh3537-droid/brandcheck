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 and research" id="{355086df-f2c2-7aee-2aa3-cb760b656b2a}">
          <p14:sldIdLst>
            <p14:sldId id="256"/>
            <p14:sldId id="257"/>
            <p14:sldId id="258"/>
            <p14:sldId id="259"/>
          </p14:sldIdLst>
        </p14:section>
        <p14:section name="Solution" id="{61258fbf-df58-625b-91cd-e01b7347bafb}">
          <p14:sldIdLst>
            <p14:sldId id="260"/>
            <p14:sldId id="261"/>
          </p14:sldIdLst>
        </p14:section>
        <p14:section name="Technical plan" id="{6d9e21e6-b199-8a8c-74d9-92763f47e8c7}">
          <p14:sldIdLst>
            <p14:sldId id="262"/>
            <p14:sldId id="263"/>
          </p14:sldIdLst>
        </p14:section>
        <p14:section name="Delivery" id="{e519aa75-a1fc-9434-a6f6-9c6ed01120a3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7132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BrandCheck  |  Team Voxen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BrandCheck  |  Team Voxen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TEAM VOXEN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BrandCheck</a:t>
            </a:r>
            <a:endParaRPr lang="en-US" sz="6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4290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Brand governance before you hit publish</a:t>
            </a:r>
            <a:endParaRPr lang="en-US" sz="2400" dirty="0"/>
          </a:p>
        </p:txBody>
      </p:sp>
      <p:sp>
        <p:nvSpPr>
          <p:cNvPr id="5" name="text_2"/>
          <p:cNvSpPr txBox="1"/>
          <p:nvPr/>
        </p:nvSpPr>
        <p:spPr>
          <a:xfrm>
            <a:off x="731520" y="43434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Pre-publication review of content against approved brand guidelines, facts, terminology and assets.</a:t>
            </a:r>
            <a:endParaRPr lang="en-US" sz="1600" dirty="0"/>
          </a:p>
        </p:txBody>
      </p:sp>
      <p:sp>
        <p:nvSpPr>
          <p:cNvPr id="6" name="text_3"/>
          <p:cNvSpPr txBox="1"/>
          <p:nvPr/>
        </p:nvSpPr>
        <p:spPr>
          <a:xfrm>
            <a:off x="731520" y="5852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Deepesh Kumar Prajapati  |  Kajal  |  Som Sahu  |  Pragya Singh</a:t>
            </a:r>
            <a:endParaRPr lang="en-US" sz="1400" dirty="0"/>
          </a:p>
        </p:txBody>
      </p:sp>
      <p:sp>
        <p:nvSpPr>
          <p:cNvPr id="7" name="text_4"/>
          <p:cNvSpPr txBox="1"/>
          <p:nvPr/>
        </p:nvSpPr>
        <p:spPr>
          <a:xfrm>
            <a:off x="73152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Problem statement by Inkloom AI</a:t>
            </a:r>
            <a:endParaRPr lang="en-US" sz="1200" dirty="0"/>
          </a:p>
        </p:txBody>
      </p:sp>
      <p:sp>
        <p:nvSpPr>
          <p:cNvPr id="8" name="hero_5"/>
          <p:cNvSpPr/>
          <p:nvPr/>
        </p:nvSpPr>
        <p:spPr>
          <a:xfrm>
            <a:off x="8503920" y="1645920"/>
            <a:ext cx="3200400" cy="3200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heroicon_6" descr="Check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331720"/>
            <a:ext cx="1828800" cy="1828800"/>
          </a:xfrm>
          <a:prstGeom prst="rect">
            <a:avLst/>
          </a:prstGeom>
        </p:spPr>
      </p:pic>
      <p:sp>
        <p:nvSpPr>
          <p:cNvPr id="10" name="hero2_7"/>
          <p:cNvSpPr/>
          <p:nvPr/>
        </p:nvSpPr>
        <p:spPr>
          <a:xfrm>
            <a:off x="8229600" y="44805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Content goes live before anyone checks it</a:t>
            </a:r>
            <a:endParaRPr lang="en-US" sz="3400" dirty="0"/>
          </a:p>
        </p:txBody>
      </p:sp>
      <p:sp>
        <p:nvSpPr>
          <p:cNvPr id="3" name="text_8"/>
          <p:cNvSpPr txBox="1"/>
          <p:nvPr/>
        </p:nvSpPr>
        <p:spPr>
          <a:xfrm>
            <a:off x="548640" y="13258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Employees, agencies and AI tools publish at speed, so wrong claims, outdated facts, off-brand language and inaccessible visuals can reach the public first.</a:t>
            </a:r>
            <a:endParaRPr lang="en-US" sz="1600" dirty="0"/>
          </a:p>
        </p:txBody>
      </p:sp>
      <p:sp>
        <p:nvSpPr>
          <p:cNvPr id="4" name="card_9"/>
          <p:cNvSpPr/>
          <p:nvPr/>
        </p:nvSpPr>
        <p:spPr>
          <a:xfrm>
            <a:off x="548640" y="2103120"/>
            <a:ext cx="36118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5" name="iconbg_10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_11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400300"/>
            <a:ext cx="228600" cy="228600"/>
          </a:xfrm>
          <a:prstGeom prst="rect">
            <a:avLst/>
          </a:prstGeom>
        </p:spPr>
      </p:pic>
      <p:sp>
        <p:nvSpPr>
          <p:cNvPr id="7" name="text_12"/>
          <p:cNvSpPr txBox="1"/>
          <p:nvPr/>
        </p:nvSpPr>
        <p:spPr>
          <a:xfrm>
            <a:off x="1417320" y="2240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600" dirty="0"/>
          </a:p>
        </p:txBody>
      </p:sp>
      <p:sp>
        <p:nvSpPr>
          <p:cNvPr id="8" name="text_13"/>
          <p:cNvSpPr txBox="1"/>
          <p:nvPr/>
        </p:nvSpPr>
        <p:spPr>
          <a:xfrm>
            <a:off x="777240" y="29443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reviewed ads needed modification (9,841 ads)</a:t>
            </a:r>
            <a:endParaRPr lang="en-US" sz="1400" dirty="0"/>
          </a:p>
        </p:txBody>
      </p:sp>
      <p:sp>
        <p:nvSpPr>
          <p:cNvPr id="9" name="text_14"/>
          <p:cNvSpPr txBox="1"/>
          <p:nvPr/>
        </p:nvSpPr>
        <p:spPr>
          <a:xfrm>
            <a:off x="77724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ASCI Annual Report 2025-26</a:t>
            </a:r>
            <a:endParaRPr lang="en-US" sz="1200" dirty="0"/>
          </a:p>
        </p:txBody>
      </p:sp>
      <p:sp>
        <p:nvSpPr>
          <p:cNvPr id="10" name="card_15"/>
          <p:cNvSpPr/>
          <p:nvPr/>
        </p:nvSpPr>
        <p:spPr>
          <a:xfrm>
            <a:off x="4343400" y="2103120"/>
            <a:ext cx="36118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1" name="iconbg_16"/>
          <p:cNvSpPr/>
          <p:nvPr/>
        </p:nvSpPr>
        <p:spPr>
          <a:xfrm>
            <a:off x="4572000" y="2286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_17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400300"/>
            <a:ext cx="228600" cy="228600"/>
          </a:xfrm>
          <a:prstGeom prst="rect">
            <a:avLst/>
          </a:prstGeom>
        </p:spPr>
      </p:pic>
      <p:sp>
        <p:nvSpPr>
          <p:cNvPr id="13" name="text_18"/>
          <p:cNvSpPr txBox="1"/>
          <p:nvPr/>
        </p:nvSpPr>
        <p:spPr>
          <a:xfrm>
            <a:off x="5212080" y="2240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27.5%</a:t>
            </a:r>
            <a:endParaRPr lang="en-US" sz="3600" dirty="0"/>
          </a:p>
        </p:txBody>
      </p:sp>
      <p:sp>
        <p:nvSpPr>
          <p:cNvPr id="14" name="text_19"/>
          <p:cNvSpPr txBox="1"/>
          <p:nvPr/>
        </p:nvSpPr>
        <p:spPr>
          <a:xfrm>
            <a:off x="4572000" y="29443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violations involved misleading claims</a:t>
            </a:r>
            <a:endParaRPr lang="en-US" sz="1400" dirty="0"/>
          </a:p>
        </p:txBody>
      </p:sp>
      <p:sp>
        <p:nvSpPr>
          <p:cNvPr id="15" name="text_20"/>
          <p:cNvSpPr txBox="1"/>
          <p:nvPr/>
        </p:nvSpPr>
        <p:spPr>
          <a:xfrm>
            <a:off x="457200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ASCI Annual Report 2025-26</a:t>
            </a:r>
            <a:endParaRPr lang="en-US" sz="1200" dirty="0"/>
          </a:p>
        </p:txBody>
      </p:sp>
      <p:sp>
        <p:nvSpPr>
          <p:cNvPr id="16" name="card_21"/>
          <p:cNvSpPr/>
          <p:nvPr/>
        </p:nvSpPr>
        <p:spPr>
          <a:xfrm>
            <a:off x="548640" y="4114800"/>
            <a:ext cx="36118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7" name="iconbg_22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_23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411980"/>
            <a:ext cx="228600" cy="228600"/>
          </a:xfrm>
          <a:prstGeom prst="rect">
            <a:avLst/>
          </a:prstGeom>
        </p:spPr>
      </p:pic>
      <p:sp>
        <p:nvSpPr>
          <p:cNvPr id="19" name="text_24"/>
          <p:cNvSpPr txBox="1"/>
          <p:nvPr/>
        </p:nvSpPr>
        <p:spPr>
          <a:xfrm>
            <a:off x="1417320" y="4251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3600" dirty="0"/>
          </a:p>
        </p:txBody>
      </p:sp>
      <p:sp>
        <p:nvSpPr>
          <p:cNvPr id="20" name="text_25"/>
          <p:cNvSpPr txBox="1"/>
          <p:nvPr/>
        </p:nvSpPr>
        <p:spPr>
          <a:xfrm>
            <a:off x="777240" y="49560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food and beverage violations were misleading health or nutrition claims</a:t>
            </a:r>
            <a:endParaRPr lang="en-US" sz="1400" dirty="0"/>
          </a:p>
        </p:txBody>
      </p:sp>
      <p:sp>
        <p:nvSpPr>
          <p:cNvPr id="21" name="text_26"/>
          <p:cNvSpPr txBox="1"/>
          <p:nvPr/>
        </p:nvSpPr>
        <p:spPr>
          <a:xfrm>
            <a:off x="777240" y="5669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ASCI Half-Yearly 2025-26, 211 ads</a:t>
            </a:r>
            <a:endParaRPr lang="en-US" sz="1200" dirty="0"/>
          </a:p>
        </p:txBody>
      </p:sp>
      <p:sp>
        <p:nvSpPr>
          <p:cNvPr id="22" name="card_27"/>
          <p:cNvSpPr/>
          <p:nvPr/>
        </p:nvSpPr>
        <p:spPr>
          <a:xfrm>
            <a:off x="4343400" y="4114800"/>
            <a:ext cx="36118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3" name="iconbg_28"/>
          <p:cNvSpPr/>
          <p:nvPr/>
        </p:nvSpPr>
        <p:spPr>
          <a:xfrm>
            <a:off x="4572000" y="4297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_29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4411980"/>
            <a:ext cx="228600" cy="228600"/>
          </a:xfrm>
          <a:prstGeom prst="rect">
            <a:avLst/>
          </a:prstGeom>
        </p:spPr>
      </p:pic>
      <p:sp>
        <p:nvSpPr>
          <p:cNvPr id="25" name="text_30"/>
          <p:cNvSpPr txBox="1"/>
          <p:nvPr/>
        </p:nvSpPr>
        <p:spPr>
          <a:xfrm>
            <a:off x="5212080" y="4251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95.9%</a:t>
            </a:r>
            <a:endParaRPr lang="en-US" sz="3600" dirty="0"/>
          </a:p>
        </p:txBody>
      </p:sp>
      <p:sp>
        <p:nvSpPr>
          <p:cNvPr id="26" name="text_31"/>
          <p:cNvSpPr txBox="1"/>
          <p:nvPr/>
        </p:nvSpPr>
        <p:spPr>
          <a:xfrm>
            <a:off x="4572000" y="49560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home pages had WCAG failures; low-contrast text on 83.9%</a:t>
            </a:r>
            <a:endParaRPr lang="en-US" sz="1400" dirty="0"/>
          </a:p>
        </p:txBody>
      </p:sp>
      <p:sp>
        <p:nvSpPr>
          <p:cNvPr id="27" name="text_32"/>
          <p:cNvSpPr txBox="1"/>
          <p:nvPr/>
        </p:nvSpPr>
        <p:spPr>
          <a:xfrm>
            <a:off x="4572000" y="5669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WebAIM Million 2026</a:t>
            </a:r>
            <a:endParaRPr lang="en-US" sz="1200" dirty="0"/>
          </a:p>
        </p:txBody>
      </p:sp>
      <p:sp>
        <p:nvSpPr>
          <p:cNvPr id="28" name="card_33"/>
          <p:cNvSpPr/>
          <p:nvPr/>
        </p:nvSpPr>
        <p:spPr>
          <a:xfrm>
            <a:off x="8138160" y="2103120"/>
            <a:ext cx="3504895" cy="3886200"/>
          </a:xfrm>
          <a:prstGeom prst="roundRect">
            <a:avLst>
              <a:gd name="adj" fmla="val 3131"/>
            </a:avLst>
          </a:prstGeom>
          <a:solidFill>
            <a:schemeClr val="tx2"/>
          </a:solidFill>
          <a:ln/>
        </p:spPr>
      </p:sp>
      <p:sp>
        <p:nvSpPr>
          <p:cNvPr id="29" name="text_34"/>
          <p:cNvSpPr txBox="1"/>
          <p:nvPr/>
        </p:nvSpPr>
        <p:spPr>
          <a:xfrm>
            <a:off x="841248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THE REAL GAP</a:t>
            </a:r>
            <a:endParaRPr lang="en-US" sz="1200" dirty="0"/>
          </a:p>
        </p:txBody>
      </p:sp>
      <p:sp>
        <p:nvSpPr>
          <p:cNvPr id="30" name="text_35"/>
          <p:cNvSpPr txBox="1"/>
          <p:nvPr/>
        </p:nvSpPr>
        <p:spPr>
          <a:xfrm>
            <a:off x="8412480" y="2743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exist. Enforcement before publishing does not.</a:t>
            </a:r>
            <a:endParaRPr lang="en-US" sz="2400" dirty="0"/>
          </a:p>
        </p:txBody>
      </p:sp>
      <p:sp>
        <p:nvSpPr>
          <p:cNvPr id="31" name="text_36"/>
          <p:cNvSpPr txBox="1"/>
          <p:nvPr/>
        </p:nvSpPr>
        <p:spPr>
          <a:xfrm>
            <a:off x="8412480" y="4297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2016 vendor survey found 95% had guidelines but only about a quarter enforced them formally.</a:t>
            </a:r>
            <a:endParaRPr lang="en-US" sz="1400" dirty="0"/>
          </a:p>
        </p:txBody>
      </p:sp>
      <p:sp>
        <p:nvSpPr>
          <p:cNvPr id="32" name="text_37"/>
          <p:cNvSpPr txBox="1"/>
          <p:nvPr/>
        </p:nvSpPr>
        <p:spPr>
          <a:xfrm>
            <a:off x="8412480" y="5120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Cost of a miss: CCPA penalties up to INR 50 lakh; Air Canada held liable for its chatbot (2024).</a:t>
            </a:r>
            <a:endParaRPr lang="en-US" sz="1400" dirty="0"/>
          </a:p>
        </p:txBody>
      </p:sp>
      <p:sp>
        <p:nvSpPr>
          <p:cNvPr id="33" name="text_38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ASCI totals are dominated by offshore betting (6,933 of 11,581 cases); WebAIM measures home pages, not marketing assets.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Who BrandCheck is for</a:t>
            </a:r>
            <a:endParaRPr lang="en-US" sz="3400" dirty="0"/>
          </a:p>
        </p:txBody>
      </p:sp>
      <p:sp>
        <p:nvSpPr>
          <p:cNvPr id="3" name="card_39"/>
          <p:cNvSpPr/>
          <p:nvPr/>
        </p:nvSpPr>
        <p:spPr>
          <a:xfrm>
            <a:off x="548640" y="1417320"/>
            <a:ext cx="3566160" cy="37490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iconbg_40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41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6" name="text_42"/>
          <p:cNvSpPr txBox="1"/>
          <p:nvPr/>
        </p:nvSpPr>
        <p:spPr>
          <a:xfrm>
            <a:off x="82296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Company owner or admin</a:t>
            </a:r>
            <a:endParaRPr lang="en-US" sz="1800" dirty="0"/>
          </a:p>
        </p:txBody>
      </p:sp>
      <p:sp>
        <p:nvSpPr>
          <p:cNvPr id="7" name="text_43"/>
          <p:cNvSpPr txBox="1"/>
          <p:nvPr/>
        </p:nvSpPr>
        <p:spPr>
          <a:xfrm>
            <a:off x="82296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WHAT THEY DO</a:t>
            </a:r>
            <a:endParaRPr lang="en-US" sz="1200" dirty="0"/>
          </a:p>
        </p:txBody>
      </p:sp>
      <p:sp>
        <p:nvSpPr>
          <p:cNvPr id="8" name="text_44"/>
          <p:cNvSpPr txBox="1"/>
          <p:nvPr/>
        </p:nvSpPr>
        <p:spPr>
          <a:xfrm>
            <a:off x="822960" y="31272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Creates the workspace, defines guidelines, approved facts, terms and assets, invites the team.</a:t>
            </a:r>
            <a:endParaRPr lang="en-US" sz="1400" dirty="0"/>
          </a:p>
        </p:txBody>
      </p:sp>
      <p:sp>
        <p:nvSpPr>
          <p:cNvPr id="9" name="text_45"/>
          <p:cNvSpPr txBox="1"/>
          <p:nvPr/>
        </p:nvSpPr>
        <p:spPr>
          <a:xfrm>
            <a:off x="822960" y="4114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LIKELY NEEDS (TO VALIDATE)</a:t>
            </a:r>
            <a:endParaRPr lang="en-US" sz="1200" dirty="0"/>
          </a:p>
        </p:txBody>
      </p:sp>
      <p:sp>
        <p:nvSpPr>
          <p:cNvPr id="10" name="text_46"/>
          <p:cNvSpPr txBox="1"/>
          <p:nvPr/>
        </p:nvSpPr>
        <p:spPr>
          <a:xfrm>
            <a:off x="822960" y="43616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 an existing brand PDF into checkable rules; see where rules are unclear.</a:t>
            </a:r>
            <a:endParaRPr lang="en-US" sz="1400" dirty="0"/>
          </a:p>
        </p:txBody>
      </p:sp>
      <p:sp>
        <p:nvSpPr>
          <p:cNvPr id="11" name="card_47"/>
          <p:cNvSpPr/>
          <p:nvPr/>
        </p:nvSpPr>
        <p:spPr>
          <a:xfrm>
            <a:off x="4311396" y="1417320"/>
            <a:ext cx="3566160" cy="37490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2" name="iconbg_48"/>
          <p:cNvSpPr/>
          <p:nvPr/>
        </p:nvSpPr>
        <p:spPr>
          <a:xfrm>
            <a:off x="4585716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_49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805940"/>
            <a:ext cx="320040" cy="320040"/>
          </a:xfrm>
          <a:prstGeom prst="rect">
            <a:avLst/>
          </a:prstGeom>
        </p:spPr>
      </p:pic>
      <p:sp>
        <p:nvSpPr>
          <p:cNvPr id="14" name="text_50"/>
          <p:cNvSpPr txBox="1"/>
          <p:nvPr/>
        </p:nvSpPr>
        <p:spPr>
          <a:xfrm>
            <a:off x="4585716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Content creator</a:t>
            </a:r>
            <a:endParaRPr lang="en-US" sz="1800" dirty="0"/>
          </a:p>
        </p:txBody>
      </p:sp>
      <p:sp>
        <p:nvSpPr>
          <p:cNvPr id="15" name="text_51"/>
          <p:cNvSpPr txBox="1"/>
          <p:nvPr/>
        </p:nvSpPr>
        <p:spPr>
          <a:xfrm>
            <a:off x="4585716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WHAT THEY DO</a:t>
            </a:r>
            <a:endParaRPr lang="en-US" sz="1200" dirty="0"/>
          </a:p>
        </p:txBody>
      </p:sp>
      <p:sp>
        <p:nvSpPr>
          <p:cNvPr id="16" name="text_52"/>
          <p:cNvSpPr txBox="1"/>
          <p:nvPr/>
        </p:nvSpPr>
        <p:spPr>
          <a:xfrm>
            <a:off x="4585716" y="31272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Submits content, inspects findings, accepts, edits, rejects or challenges suggestions.</a:t>
            </a:r>
            <a:endParaRPr lang="en-US" sz="1400" dirty="0"/>
          </a:p>
        </p:txBody>
      </p:sp>
      <p:sp>
        <p:nvSpPr>
          <p:cNvPr id="17" name="text_53"/>
          <p:cNvSpPr txBox="1"/>
          <p:nvPr/>
        </p:nvSpPr>
        <p:spPr>
          <a:xfrm>
            <a:off x="4585716" y="4114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LIKELY NEEDS (TO VALIDATE)</a:t>
            </a:r>
            <a:endParaRPr lang="en-US" sz="1200" dirty="0"/>
          </a:p>
        </p:txBody>
      </p:sp>
      <p:sp>
        <p:nvSpPr>
          <p:cNvPr id="18" name="text_54"/>
          <p:cNvSpPr txBox="1"/>
          <p:nvPr/>
        </p:nvSpPr>
        <p:spPr>
          <a:xfrm>
            <a:off x="4585716" y="43616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Fast, specific feedback that explains why; no silent rewriting; a way to push back.</a:t>
            </a:r>
            <a:endParaRPr lang="en-US" sz="1400" dirty="0"/>
          </a:p>
        </p:txBody>
      </p:sp>
      <p:sp>
        <p:nvSpPr>
          <p:cNvPr id="19" name="card_55"/>
          <p:cNvSpPr/>
          <p:nvPr/>
        </p:nvSpPr>
        <p:spPr>
          <a:xfrm>
            <a:off x="8074152" y="1417320"/>
            <a:ext cx="3566160" cy="37490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20" name="iconbg_56"/>
          <p:cNvSpPr/>
          <p:nvPr/>
        </p:nvSpPr>
        <p:spPr>
          <a:xfrm>
            <a:off x="8348472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_57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492" y="1805940"/>
            <a:ext cx="320040" cy="320040"/>
          </a:xfrm>
          <a:prstGeom prst="rect">
            <a:avLst/>
          </a:prstGeom>
        </p:spPr>
      </p:pic>
      <p:sp>
        <p:nvSpPr>
          <p:cNvPr id="22" name="text_58"/>
          <p:cNvSpPr txBox="1"/>
          <p:nvPr/>
        </p:nvSpPr>
        <p:spPr>
          <a:xfrm>
            <a:off x="8348472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Manager or reviewer</a:t>
            </a:r>
            <a:endParaRPr lang="en-US" sz="1800" dirty="0"/>
          </a:p>
        </p:txBody>
      </p:sp>
      <p:sp>
        <p:nvSpPr>
          <p:cNvPr id="23" name="text_59"/>
          <p:cNvSpPr txBox="1"/>
          <p:nvPr/>
        </p:nvSpPr>
        <p:spPr>
          <a:xfrm>
            <a:off x="8348472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WHAT THEY DO</a:t>
            </a:r>
            <a:endParaRPr lang="en-US" sz="1200" dirty="0"/>
          </a:p>
        </p:txBody>
      </p:sp>
      <p:sp>
        <p:nvSpPr>
          <p:cNvPr id="24" name="text_60"/>
          <p:cNvSpPr txBox="1"/>
          <p:nvPr/>
        </p:nvSpPr>
        <p:spPr>
          <a:xfrm>
            <a:off x="8348472" y="31272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Opens the same review and report, comments, requests changes, records approval.</a:t>
            </a:r>
            <a:endParaRPr lang="en-US" sz="1400" dirty="0"/>
          </a:p>
        </p:txBody>
      </p:sp>
      <p:sp>
        <p:nvSpPr>
          <p:cNvPr id="25" name="text_61"/>
          <p:cNvSpPr txBox="1"/>
          <p:nvPr/>
        </p:nvSpPr>
        <p:spPr>
          <a:xfrm>
            <a:off x="8348472" y="4114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LIKELY NEEDS (TO VALIDATE)</a:t>
            </a:r>
            <a:endParaRPr lang="en-US" sz="1200" dirty="0"/>
          </a:p>
        </p:txBody>
      </p:sp>
      <p:sp>
        <p:nvSpPr>
          <p:cNvPr id="26" name="text_62"/>
          <p:cNvSpPr txBox="1"/>
          <p:nvPr/>
        </p:nvSpPr>
        <p:spPr>
          <a:xfrm>
            <a:off x="8348472" y="43616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place for content, findings and decisions; fewer repeat fixes; an audit trail.</a:t>
            </a:r>
            <a:endParaRPr lang="en-US" sz="1400" dirty="0"/>
          </a:p>
        </p:txBody>
      </p:sp>
      <p:sp>
        <p:nvSpPr>
          <p:cNvPr id="27" name="card_63"/>
          <p:cNvSpPr/>
          <p:nvPr/>
        </p:nvSpPr>
        <p:spPr>
          <a:xfrm>
            <a:off x="548640" y="5349240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28" name="text_64"/>
          <p:cNvSpPr txBox="1"/>
          <p:nvPr/>
        </p:nvSpPr>
        <p:spPr>
          <a:xfrm>
            <a:off x="822960" y="54406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Setting: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small and mid-sized marketing teams and agencies, and claim-heavy sectors such as food and beverage, personal care, health and real estate. Publishing stays outside the tool.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Research and existing tools</a:t>
            </a:r>
            <a:endParaRPr lang="en-US" sz="3400" dirty="0"/>
          </a:p>
        </p:txBody>
      </p:sp>
      <p:graphicFrame>
        <p:nvGraphicFramePr>
          <p:cNvPr id="5" name="tool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32785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offers (vendors' public claims)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Our opening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2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</a:rPr>
                        <a:t>Markup AI (Acrolinx)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Scans, scores and rewrites content against brand, tone, terminology and compliance rules; enterprise focus.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Show the source evidence per finding and keep decisions explicitly human.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</a:rPr>
                        <a:t>Writer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Voice profiles from style guides, compliance checks and team review workflows.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Language governance focus; we target fact checks against approved facts (hypothesis).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</a:rPr>
                        <a:t>Typeface, Adobe, brand hubs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Guardrails that apply guidelines while content is generated inside their tools.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They guide generation; we check content from any source before it goes live.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</a:rPr>
                        <a:t>Jasper, Copy.ai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Brand voice features inside AI writing products.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Not governance rivals; a source of AI drafts that need checking.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4" name="card_65"/>
          <p:cNvSpPr/>
          <p:nvPr/>
        </p:nvSpPr>
        <p:spPr>
          <a:xfrm>
            <a:off x="548640" y="44348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text_66"/>
          <p:cNvSpPr txBox="1"/>
          <p:nvPr/>
        </p:nvSpPr>
        <p:spPr>
          <a:xfrm>
            <a:off x="822960" y="4590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Research done</a:t>
            </a:r>
            <a:endParaRPr lang="en-US" sz="1600" dirty="0"/>
          </a:p>
        </p:txBody>
      </p:sp>
      <p:sp>
        <p:nvSpPr>
          <p:cNvPr id="6" name="text_67"/>
          <p:cNvSpPr txBox="1"/>
          <p:nvPr/>
        </p:nvSpPr>
        <p:spPr>
          <a:xfrm>
            <a:off x="822960" y="495604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Desk research on problem evidence, legal precedent and competitors; 14-question survey drafted.</a:t>
            </a:r>
            <a:endParaRPr lang="en-US" sz="1400" dirty="0"/>
          </a:p>
        </p:txBody>
      </p:sp>
      <p:sp>
        <p:nvSpPr>
          <p:cNvPr id="7" name="card_68"/>
          <p:cNvSpPr/>
          <p:nvPr/>
        </p:nvSpPr>
        <p:spPr>
          <a:xfrm>
            <a:off x="4311396" y="44348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text_69"/>
          <p:cNvSpPr txBox="1"/>
          <p:nvPr/>
        </p:nvSpPr>
        <p:spPr>
          <a:xfrm>
            <a:off x="4585716" y="4590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Still to do</a:t>
            </a:r>
            <a:endParaRPr lang="en-US" sz="1600" dirty="0"/>
          </a:p>
        </p:txBody>
      </p:sp>
      <p:sp>
        <p:nvSpPr>
          <p:cNvPr id="9" name="text_70"/>
          <p:cNvSpPr txBox="1"/>
          <p:nvPr/>
        </p:nvSpPr>
        <p:spPr>
          <a:xfrm>
            <a:off x="4585716" y="495604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survey, interview creators and managers, build a labelled test set. No survey results are claimed yet.</a:t>
            </a:r>
            <a:endParaRPr lang="en-US" sz="1400" dirty="0"/>
          </a:p>
        </p:txBody>
      </p:sp>
      <p:sp>
        <p:nvSpPr>
          <p:cNvPr id="10" name="card_71"/>
          <p:cNvSpPr/>
          <p:nvPr/>
        </p:nvSpPr>
        <p:spPr>
          <a:xfrm>
            <a:off x="8074152" y="44348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11" name="text_72"/>
          <p:cNvSpPr txBox="1"/>
          <p:nvPr/>
        </p:nvSpPr>
        <p:spPr>
          <a:xfrm>
            <a:off x="8348472" y="4590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Our position</a:t>
            </a:r>
            <a:endParaRPr lang="en-US" sz="1600" dirty="0"/>
          </a:p>
        </p:txBody>
      </p:sp>
      <p:sp>
        <p:nvSpPr>
          <p:cNvPr id="12" name="text_73"/>
          <p:cNvSpPr txBox="1"/>
          <p:nvPr/>
        </p:nvSpPr>
        <p:spPr>
          <a:xfrm>
            <a:off x="8348472" y="495604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lightweight, transparent, human-in-control pre-publication reviewer that shows the source behind each finding and flags what it cannot verify.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Explainable review, humans in charge</a:t>
            </a:r>
            <a:endParaRPr lang="en-US" sz="3400" dirty="0"/>
          </a:p>
        </p:txBody>
      </p:sp>
      <p:sp>
        <p:nvSpPr>
          <p:cNvPr id="3" name="card_74"/>
          <p:cNvSpPr/>
          <p:nvPr/>
        </p:nvSpPr>
        <p:spPr>
          <a:xfrm>
            <a:off x="548640" y="14173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iconbg_75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76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725930"/>
            <a:ext cx="251460" cy="251460"/>
          </a:xfrm>
          <a:prstGeom prst="rect">
            <a:avLst/>
          </a:prstGeom>
        </p:spPr>
      </p:pic>
      <p:sp>
        <p:nvSpPr>
          <p:cNvPr id="6" name="text_77"/>
          <p:cNvSpPr txBox="1"/>
          <p:nvPr/>
        </p:nvSpPr>
        <p:spPr>
          <a:xfrm>
            <a:off x="7772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Grounded in sources</a:t>
            </a:r>
            <a:endParaRPr lang="en-US" sz="1600" dirty="0"/>
          </a:p>
        </p:txBody>
      </p:sp>
      <p:sp>
        <p:nvSpPr>
          <p:cNvPr id="7" name="text_78"/>
          <p:cNvSpPr txBox="1"/>
          <p:nvPr/>
        </p:nvSpPr>
        <p:spPr>
          <a:xfrm>
            <a:off x="777240" y="25786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Checks run against your approved guidelines, facts and terms.</a:t>
            </a:r>
            <a:endParaRPr lang="en-US" sz="1400" dirty="0"/>
          </a:p>
        </p:txBody>
      </p:sp>
      <p:sp>
        <p:nvSpPr>
          <p:cNvPr id="8" name="card_79"/>
          <p:cNvSpPr/>
          <p:nvPr/>
        </p:nvSpPr>
        <p:spPr>
          <a:xfrm>
            <a:off x="3377154" y="14173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iconbg_80"/>
          <p:cNvSpPr/>
          <p:nvPr/>
        </p:nvSpPr>
        <p:spPr>
          <a:xfrm>
            <a:off x="3605754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_8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484" y="1725930"/>
            <a:ext cx="251460" cy="251460"/>
          </a:xfrm>
          <a:prstGeom prst="rect">
            <a:avLst/>
          </a:prstGeom>
        </p:spPr>
      </p:pic>
      <p:sp>
        <p:nvSpPr>
          <p:cNvPr id="11" name="text_82"/>
          <p:cNvSpPr txBox="1"/>
          <p:nvPr/>
        </p:nvSpPr>
        <p:spPr>
          <a:xfrm>
            <a:off x="3605754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Findings explained</a:t>
            </a:r>
            <a:endParaRPr lang="en-US" sz="1600" dirty="0"/>
          </a:p>
        </p:txBody>
      </p:sp>
      <p:sp>
        <p:nvSpPr>
          <p:cNvPr id="12" name="text_83"/>
          <p:cNvSpPr txBox="1"/>
          <p:nvPr/>
        </p:nvSpPr>
        <p:spPr>
          <a:xfrm>
            <a:off x="3605754" y="25786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is wrong, why it matters and which source supports it.</a:t>
            </a:r>
            <a:endParaRPr lang="en-US" sz="1400" dirty="0"/>
          </a:p>
        </p:txBody>
      </p:sp>
      <p:sp>
        <p:nvSpPr>
          <p:cNvPr id="13" name="card_84"/>
          <p:cNvSpPr/>
          <p:nvPr/>
        </p:nvSpPr>
        <p:spPr>
          <a:xfrm>
            <a:off x="6205667" y="14173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iconbg_85"/>
          <p:cNvSpPr/>
          <p:nvPr/>
        </p:nvSpPr>
        <p:spPr>
          <a:xfrm>
            <a:off x="6434267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_86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997" y="1725930"/>
            <a:ext cx="251460" cy="251460"/>
          </a:xfrm>
          <a:prstGeom prst="rect">
            <a:avLst/>
          </a:prstGeom>
        </p:spPr>
      </p:pic>
      <p:sp>
        <p:nvSpPr>
          <p:cNvPr id="16" name="text_87"/>
          <p:cNvSpPr txBox="1"/>
          <p:nvPr/>
        </p:nvSpPr>
        <p:spPr>
          <a:xfrm>
            <a:off x="6434267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Human in control</a:t>
            </a:r>
            <a:endParaRPr lang="en-US" sz="1600" dirty="0"/>
          </a:p>
        </p:txBody>
      </p:sp>
      <p:sp>
        <p:nvSpPr>
          <p:cNvPr id="17" name="text_88"/>
          <p:cNvSpPr txBox="1"/>
          <p:nvPr/>
        </p:nvSpPr>
        <p:spPr>
          <a:xfrm>
            <a:off x="6434267" y="25786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Accept, edit, reject or challenge. Nothing is overwritten silently.</a:t>
            </a:r>
            <a:endParaRPr lang="en-US" sz="1400" dirty="0"/>
          </a:p>
        </p:txBody>
      </p:sp>
      <p:sp>
        <p:nvSpPr>
          <p:cNvPr id="18" name="card_89"/>
          <p:cNvSpPr/>
          <p:nvPr/>
        </p:nvSpPr>
        <p:spPr>
          <a:xfrm>
            <a:off x="9034181" y="14173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iconbg_90"/>
          <p:cNvSpPr/>
          <p:nvPr/>
        </p:nvSpPr>
        <p:spPr>
          <a:xfrm>
            <a:off x="9262781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_91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8511" y="1725930"/>
            <a:ext cx="251460" cy="251460"/>
          </a:xfrm>
          <a:prstGeom prst="rect">
            <a:avLst/>
          </a:prstGeom>
        </p:spPr>
      </p:pic>
      <p:sp>
        <p:nvSpPr>
          <p:cNvPr id="21" name="text_92"/>
          <p:cNvSpPr txBox="1"/>
          <p:nvPr/>
        </p:nvSpPr>
        <p:spPr>
          <a:xfrm>
            <a:off x="9262781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Uncertainty shown</a:t>
            </a:r>
            <a:endParaRPr lang="en-US" sz="1600" dirty="0"/>
          </a:p>
        </p:txBody>
      </p:sp>
      <p:sp>
        <p:nvSpPr>
          <p:cNvPr id="22" name="text_93"/>
          <p:cNvSpPr txBox="1"/>
          <p:nvPr/>
        </p:nvSpPr>
        <p:spPr>
          <a:xfrm>
            <a:off x="9262781" y="25786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Source-backed findings are kept apart from unverified ones.</a:t>
            </a:r>
            <a:endParaRPr lang="en-US" sz="1400" dirty="0"/>
          </a:p>
        </p:txBody>
      </p:sp>
      <p:sp>
        <p:nvSpPr>
          <p:cNvPr id="23" name="card_94"/>
          <p:cNvSpPr/>
          <p:nvPr/>
        </p:nvSpPr>
        <p:spPr>
          <a:xfrm>
            <a:off x="548640" y="3611880"/>
            <a:ext cx="35661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4" name="pill_95"/>
          <p:cNvSpPr txBox="1"/>
          <p:nvPr/>
        </p:nvSpPr>
        <p:spPr>
          <a:xfrm>
            <a:off x="777240" y="3794760"/>
            <a:ext cx="3108960" cy="310896"/>
          </a:xfrm>
          <a:prstGeom prst="roundRect">
            <a:avLst>
              <a:gd name="adj" fmla="val 441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PRIORITY 1: MUST WORK</a:t>
            </a:r>
            <a:endParaRPr lang="en-US" sz="1200" dirty="0"/>
          </a:p>
        </p:txBody>
      </p:sp>
      <p:sp>
        <p:nvSpPr>
          <p:cNvPr id="25" name="text_96"/>
          <p:cNvSpPr txBox="1"/>
          <p:nvPr/>
        </p:nvSpPr>
        <p:spPr>
          <a:xfrm>
            <a:off x="822960" y="42976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Define and use brand sources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Submit text content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a real review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Findings with source evidence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Suggested correction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Explicit user decision</a:t>
            </a:r>
            <a:endParaRPr lang="en-US" sz="1400" dirty="0"/>
          </a:p>
        </p:txBody>
      </p:sp>
      <p:sp>
        <p:nvSpPr>
          <p:cNvPr id="26" name="card_97"/>
          <p:cNvSpPr/>
          <p:nvPr/>
        </p:nvSpPr>
        <p:spPr>
          <a:xfrm>
            <a:off x="4311396" y="3611880"/>
            <a:ext cx="35661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7" name="pill_98"/>
          <p:cNvSpPr txBox="1"/>
          <p:nvPr/>
        </p:nvSpPr>
        <p:spPr>
          <a:xfrm>
            <a:off x="4539996" y="3794760"/>
            <a:ext cx="3108960" cy="310896"/>
          </a:xfrm>
          <a:prstGeom prst="roundRect">
            <a:avLst>
              <a:gd name="adj" fmla="val 44118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PRIORITY 2: COMPLETE THE STORY</a:t>
            </a:r>
            <a:endParaRPr lang="en-US" sz="1200" dirty="0"/>
          </a:p>
        </p:txBody>
      </p:sp>
      <p:sp>
        <p:nvSpPr>
          <p:cNvPr id="28" name="text_99"/>
          <p:cNvSpPr txBox="1"/>
          <p:nvPr/>
        </p:nvSpPr>
        <p:spPr>
          <a:xfrm>
            <a:off x="4585716" y="42976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 with a reviewer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Comments and requested changes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Approval status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Revision history, where feasible</a:t>
            </a:r>
            <a:endParaRPr lang="en-US" sz="1400" dirty="0"/>
          </a:p>
        </p:txBody>
      </p:sp>
      <p:sp>
        <p:nvSpPr>
          <p:cNvPr id="29" name="card_100"/>
          <p:cNvSpPr/>
          <p:nvPr/>
        </p:nvSpPr>
        <p:spPr>
          <a:xfrm>
            <a:off x="8074152" y="3611880"/>
            <a:ext cx="35661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30" name="pill_101"/>
          <p:cNvSpPr txBox="1"/>
          <p:nvPr/>
        </p:nvSpPr>
        <p:spPr>
          <a:xfrm>
            <a:off x="8302752" y="3794760"/>
            <a:ext cx="3108960" cy="310896"/>
          </a:xfrm>
          <a:prstGeom prst="roundRect">
            <a:avLst>
              <a:gd name="adj" fmla="val 4411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PRIORITY 3: IF TIME PERMITS</a:t>
            </a:r>
            <a:endParaRPr lang="en-US" sz="1200" dirty="0"/>
          </a:p>
        </p:txBody>
      </p:sp>
      <p:sp>
        <p:nvSpPr>
          <p:cNvPr id="31" name="text_102"/>
          <p:cNvSpPr txBox="1"/>
          <p:nvPr/>
        </p:nvSpPr>
        <p:spPr>
          <a:xfrm>
            <a:off x="8348472" y="42976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Image and document formats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Accessibility and visual checks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Repeated-mistake insights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Video review, after the core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Workflow and technical flow</a:t>
            </a:r>
            <a:endParaRPr lang="en-US" sz="3400" dirty="0"/>
          </a:p>
        </p:txBody>
      </p:sp>
      <p:sp>
        <p:nvSpPr>
          <p:cNvPr id="3" name="card_103"/>
          <p:cNvSpPr/>
          <p:nvPr/>
        </p:nvSpPr>
        <p:spPr>
          <a:xfrm>
            <a:off x="548640" y="141732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" name="text_104"/>
          <p:cNvSpPr txBox="1"/>
          <p:nvPr/>
        </p:nvSpPr>
        <p:spPr>
          <a:xfrm>
            <a:off x="68580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Owner creates workspace</a:t>
            </a:r>
            <a:endParaRPr lang="en-US" sz="1400" dirty="0"/>
          </a:p>
        </p:txBody>
      </p:sp>
      <p:sp>
        <p:nvSpPr>
          <p:cNvPr id="5" name="text_105"/>
          <p:cNvSpPr txBox="1"/>
          <p:nvPr/>
        </p:nvSpPr>
        <p:spPr>
          <a:xfrm>
            <a:off x="685800" y="1892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React + Express + Postgres</a:t>
            </a:r>
            <a:endParaRPr lang="en-US" sz="1200" dirty="0"/>
          </a:p>
        </p:txBody>
      </p:sp>
      <p:sp>
        <p:nvSpPr>
          <p:cNvPr id="6" name="card_106"/>
          <p:cNvSpPr/>
          <p:nvPr/>
        </p:nvSpPr>
        <p:spPr>
          <a:xfrm>
            <a:off x="3429000" y="141732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7" name="text_107"/>
          <p:cNvSpPr txBox="1"/>
          <p:nvPr/>
        </p:nvSpPr>
        <p:spPr>
          <a:xfrm>
            <a:off x="356616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Defines brand sources</a:t>
            </a:r>
            <a:endParaRPr lang="en-US" sz="1400" dirty="0"/>
          </a:p>
        </p:txBody>
      </p:sp>
      <p:sp>
        <p:nvSpPr>
          <p:cNvPr id="8" name="text_108"/>
          <p:cNvSpPr txBox="1"/>
          <p:nvPr/>
        </p:nvSpPr>
        <p:spPr>
          <a:xfrm>
            <a:off x="3566160" y="1892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Rules in PostgreSQL, Zod</a:t>
            </a:r>
            <a:endParaRPr lang="en-US" sz="1200" dirty="0"/>
          </a:p>
        </p:txBody>
      </p:sp>
      <p:sp>
        <p:nvSpPr>
          <p:cNvPr id="9" name="card_109"/>
          <p:cNvSpPr/>
          <p:nvPr/>
        </p:nvSpPr>
        <p:spPr>
          <a:xfrm>
            <a:off x="6309360" y="141732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0" name="text_110"/>
          <p:cNvSpPr txBox="1"/>
          <p:nvPr/>
        </p:nvSpPr>
        <p:spPr>
          <a:xfrm>
            <a:off x="644652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Invites team members</a:t>
            </a:r>
            <a:endParaRPr lang="en-US" sz="1400" dirty="0"/>
          </a:p>
        </p:txBody>
      </p:sp>
      <p:sp>
        <p:nvSpPr>
          <p:cNvPr id="11" name="text_111"/>
          <p:cNvSpPr txBox="1"/>
          <p:nvPr/>
        </p:nvSpPr>
        <p:spPr>
          <a:xfrm>
            <a:off x="6446520" y="1892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Invite link, role checks</a:t>
            </a:r>
            <a:endParaRPr lang="en-US" sz="1200" dirty="0"/>
          </a:p>
        </p:txBody>
      </p:sp>
      <p:sp>
        <p:nvSpPr>
          <p:cNvPr id="12" name="card_112"/>
          <p:cNvSpPr/>
          <p:nvPr/>
        </p:nvSpPr>
        <p:spPr>
          <a:xfrm>
            <a:off x="9189720" y="141732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3" name="text_113"/>
          <p:cNvSpPr txBox="1"/>
          <p:nvPr/>
        </p:nvSpPr>
        <p:spPr>
          <a:xfrm>
            <a:off x="932688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Creator submits content</a:t>
            </a:r>
            <a:endParaRPr lang="en-US" sz="1400" dirty="0"/>
          </a:p>
        </p:txBody>
      </p:sp>
      <p:sp>
        <p:nvSpPr>
          <p:cNvPr id="14" name="text_114"/>
          <p:cNvSpPr txBox="1"/>
          <p:nvPr/>
        </p:nvSpPr>
        <p:spPr>
          <a:xfrm>
            <a:off x="9326880" y="1892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Express + Zod upload checks</a:t>
            </a:r>
            <a:endParaRPr lang="en-US" sz="1200" dirty="0"/>
          </a:p>
        </p:txBody>
      </p:sp>
      <p:sp>
        <p:nvSpPr>
          <p:cNvPr id="15" name="card_115"/>
          <p:cNvSpPr/>
          <p:nvPr/>
        </p:nvSpPr>
        <p:spPr>
          <a:xfrm>
            <a:off x="9189720" y="269748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6" name="text_116"/>
          <p:cNvSpPr txBox="1"/>
          <p:nvPr/>
        </p:nvSpPr>
        <p:spPr>
          <a:xfrm>
            <a:off x="932688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System reviews content</a:t>
            </a:r>
            <a:endParaRPr lang="en-US" sz="1400" dirty="0"/>
          </a:p>
        </p:txBody>
      </p:sp>
      <p:sp>
        <p:nvSpPr>
          <p:cNvPr id="17" name="text_117"/>
          <p:cNvSpPr txBox="1"/>
          <p:nvPr/>
        </p:nvSpPr>
        <p:spPr>
          <a:xfrm>
            <a:off x="9326880" y="3172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Rules, MiniLM, DeBERTa, Qwen3</a:t>
            </a:r>
            <a:endParaRPr lang="en-US" sz="1200" dirty="0"/>
          </a:p>
        </p:txBody>
      </p:sp>
      <p:sp>
        <p:nvSpPr>
          <p:cNvPr id="18" name="card_118"/>
          <p:cNvSpPr/>
          <p:nvPr/>
        </p:nvSpPr>
        <p:spPr>
          <a:xfrm>
            <a:off x="6309360" y="269748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9" name="text_119"/>
          <p:cNvSpPr txBox="1"/>
          <p:nvPr/>
        </p:nvSpPr>
        <p:spPr>
          <a:xfrm>
            <a:off x="644652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Findings and suggestions</a:t>
            </a:r>
            <a:endParaRPr lang="en-US" sz="1400" dirty="0"/>
          </a:p>
        </p:txBody>
      </p:sp>
      <p:sp>
        <p:nvSpPr>
          <p:cNvPr id="20" name="text_120"/>
          <p:cNvSpPr txBox="1"/>
          <p:nvPr/>
        </p:nvSpPr>
        <p:spPr>
          <a:xfrm>
            <a:off x="6446520" y="3172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Source-backed vs uncertain</a:t>
            </a:r>
            <a:endParaRPr lang="en-US" sz="1200" dirty="0"/>
          </a:p>
        </p:txBody>
      </p:sp>
      <p:sp>
        <p:nvSpPr>
          <p:cNvPr id="21" name="card_121"/>
          <p:cNvSpPr/>
          <p:nvPr/>
        </p:nvSpPr>
        <p:spPr>
          <a:xfrm>
            <a:off x="3429000" y="269748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22" name="text_122"/>
          <p:cNvSpPr txBox="1"/>
          <p:nvPr/>
        </p:nvSpPr>
        <p:spPr>
          <a:xfrm>
            <a:off x="356616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Creator reviews changes</a:t>
            </a:r>
            <a:endParaRPr lang="en-US" sz="1400" dirty="0"/>
          </a:p>
        </p:txBody>
      </p:sp>
      <p:sp>
        <p:nvSpPr>
          <p:cNvPr id="23" name="text_123"/>
          <p:cNvSpPr txBox="1"/>
          <p:nvPr/>
        </p:nvSpPr>
        <p:spPr>
          <a:xfrm>
            <a:off x="3566160" y="3172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React 3-panel review UI</a:t>
            </a:r>
            <a:endParaRPr lang="en-US" sz="1200" dirty="0"/>
          </a:p>
        </p:txBody>
      </p:sp>
      <p:sp>
        <p:nvSpPr>
          <p:cNvPr id="24" name="card_124"/>
          <p:cNvSpPr/>
          <p:nvPr/>
        </p:nvSpPr>
        <p:spPr>
          <a:xfrm>
            <a:off x="548640" y="269748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25" name="text_125"/>
          <p:cNvSpPr txBox="1"/>
          <p:nvPr/>
        </p:nvSpPr>
        <p:spPr>
          <a:xfrm>
            <a:off x="68580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Decide on each fix</a:t>
            </a:r>
            <a:endParaRPr lang="en-US" sz="1400" dirty="0"/>
          </a:p>
        </p:txBody>
      </p:sp>
      <p:sp>
        <p:nvSpPr>
          <p:cNvPr id="26" name="text_126"/>
          <p:cNvSpPr txBox="1"/>
          <p:nvPr/>
        </p:nvSpPr>
        <p:spPr>
          <a:xfrm>
            <a:off x="685800" y="3172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Accept, reject, edit, defer</a:t>
            </a:r>
            <a:endParaRPr lang="en-US" sz="1200" dirty="0"/>
          </a:p>
        </p:txBody>
      </p:sp>
      <p:sp>
        <p:nvSpPr>
          <p:cNvPr id="27" name="card_127"/>
          <p:cNvSpPr/>
          <p:nvPr/>
        </p:nvSpPr>
        <p:spPr>
          <a:xfrm>
            <a:off x="548640" y="397764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28" name="text_128"/>
          <p:cNvSpPr txBox="1"/>
          <p:nvPr/>
        </p:nvSpPr>
        <p:spPr>
          <a:xfrm>
            <a:off x="68580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Share with manager</a:t>
            </a:r>
            <a:endParaRPr lang="en-US" sz="1400" dirty="0"/>
          </a:p>
        </p:txBody>
      </p:sp>
      <p:sp>
        <p:nvSpPr>
          <p:cNvPr id="29" name="text_129"/>
          <p:cNvSpPr txBox="1"/>
          <p:nvPr/>
        </p:nvSpPr>
        <p:spPr>
          <a:xfrm>
            <a:off x="685800" y="4453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Share link + permission check</a:t>
            </a:r>
            <a:endParaRPr lang="en-US" sz="1200" dirty="0"/>
          </a:p>
        </p:txBody>
      </p:sp>
      <p:sp>
        <p:nvSpPr>
          <p:cNvPr id="30" name="card_130"/>
          <p:cNvSpPr/>
          <p:nvPr/>
        </p:nvSpPr>
        <p:spPr>
          <a:xfrm>
            <a:off x="3429000" y="397764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31" name="text_131"/>
          <p:cNvSpPr txBox="1"/>
          <p:nvPr/>
        </p:nvSpPr>
        <p:spPr>
          <a:xfrm>
            <a:off x="356616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Manager reviews report</a:t>
            </a:r>
            <a:endParaRPr lang="en-US" sz="1400" dirty="0"/>
          </a:p>
        </p:txBody>
      </p:sp>
      <p:sp>
        <p:nvSpPr>
          <p:cNvPr id="32" name="text_132"/>
          <p:cNvSpPr txBox="1"/>
          <p:nvPr/>
        </p:nvSpPr>
        <p:spPr>
          <a:xfrm>
            <a:off x="3566160" y="4453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Reviewer role in Express</a:t>
            </a:r>
            <a:endParaRPr lang="en-US" sz="1200" dirty="0"/>
          </a:p>
        </p:txBody>
      </p:sp>
      <p:sp>
        <p:nvSpPr>
          <p:cNvPr id="33" name="card_133"/>
          <p:cNvSpPr/>
          <p:nvPr/>
        </p:nvSpPr>
        <p:spPr>
          <a:xfrm>
            <a:off x="6309360" y="397764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34" name="text_134"/>
          <p:cNvSpPr txBox="1"/>
          <p:nvPr/>
        </p:nvSpPr>
        <p:spPr>
          <a:xfrm>
            <a:off x="644652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Approved?</a:t>
            </a:r>
            <a:endParaRPr lang="en-US" sz="1400" dirty="0"/>
          </a:p>
        </p:txBody>
      </p:sp>
      <p:sp>
        <p:nvSpPr>
          <p:cNvPr id="35" name="text_135"/>
          <p:cNvSpPr txBox="1"/>
          <p:nvPr/>
        </p:nvSpPr>
        <p:spPr>
          <a:xfrm>
            <a:off x="6446520" y="4453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Manager decision</a:t>
            </a:r>
            <a:endParaRPr lang="en-US" sz="1200" dirty="0"/>
          </a:p>
        </p:txBody>
      </p:sp>
      <p:sp>
        <p:nvSpPr>
          <p:cNvPr id="36" name="card_136"/>
          <p:cNvSpPr/>
          <p:nvPr/>
        </p:nvSpPr>
        <p:spPr>
          <a:xfrm>
            <a:off x="3429000" y="525780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37" name="text_137"/>
          <p:cNvSpPr txBox="1"/>
          <p:nvPr/>
        </p:nvSpPr>
        <p:spPr>
          <a:xfrm>
            <a:off x="356616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Record approval</a:t>
            </a:r>
            <a:endParaRPr lang="en-US" sz="1400" dirty="0"/>
          </a:p>
        </p:txBody>
      </p:sp>
      <p:sp>
        <p:nvSpPr>
          <p:cNvPr id="38" name="text_138"/>
          <p:cNvSpPr txBox="1"/>
          <p:nvPr/>
        </p:nvSpPr>
        <p:spPr>
          <a:xfrm>
            <a:off x="3566160" y="5733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PostgreSQL revision history</a:t>
            </a:r>
            <a:endParaRPr lang="en-US" sz="1200" dirty="0"/>
          </a:p>
        </p:txBody>
      </p:sp>
      <p:sp>
        <p:nvSpPr>
          <p:cNvPr id="39" name="card_139"/>
          <p:cNvSpPr/>
          <p:nvPr/>
        </p:nvSpPr>
        <p:spPr>
          <a:xfrm>
            <a:off x="9189720" y="5257800"/>
            <a:ext cx="246888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40" name="text_140"/>
          <p:cNvSpPr txBox="1"/>
          <p:nvPr/>
        </p:nvSpPr>
        <p:spPr>
          <a:xfrm>
            <a:off x="932688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Comments and revisions</a:t>
            </a:r>
            <a:endParaRPr lang="en-US" sz="1400" dirty="0"/>
          </a:p>
        </p:txBody>
      </p:sp>
      <p:sp>
        <p:nvSpPr>
          <p:cNvPr id="41" name="text_141"/>
          <p:cNvSpPr txBox="1"/>
          <p:nvPr/>
        </p:nvSpPr>
        <p:spPr>
          <a:xfrm>
            <a:off x="9326880" y="5733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Back to system review</a:t>
            </a:r>
            <a:endParaRPr lang="en-US" sz="1200" dirty="0"/>
          </a:p>
        </p:txBody>
      </p:sp>
      <p:sp>
        <p:nvSpPr>
          <p:cNvPr id="42" name="arrow_142"/>
          <p:cNvSpPr/>
          <p:nvPr/>
        </p:nvSpPr>
        <p:spPr>
          <a:xfrm>
            <a:off x="3017520" y="182880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3" name="arrow_143"/>
          <p:cNvSpPr/>
          <p:nvPr/>
        </p:nvSpPr>
        <p:spPr>
          <a:xfrm>
            <a:off x="5897880" y="182880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4" name="arrow_144"/>
          <p:cNvSpPr/>
          <p:nvPr/>
        </p:nvSpPr>
        <p:spPr>
          <a:xfrm>
            <a:off x="8778240" y="182880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5" name="arrow_145"/>
          <p:cNvSpPr/>
          <p:nvPr/>
        </p:nvSpPr>
        <p:spPr>
          <a:xfrm>
            <a:off x="10424160" y="2240280"/>
            <a:ext cx="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6" name="arrow_146"/>
          <p:cNvSpPr/>
          <p:nvPr/>
        </p:nvSpPr>
        <p:spPr>
          <a:xfrm flipH="1">
            <a:off x="8778240" y="310896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7" name="arrow_147"/>
          <p:cNvSpPr/>
          <p:nvPr/>
        </p:nvSpPr>
        <p:spPr>
          <a:xfrm flipH="1">
            <a:off x="5897880" y="310896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8" name="arrow_148"/>
          <p:cNvSpPr/>
          <p:nvPr/>
        </p:nvSpPr>
        <p:spPr>
          <a:xfrm flipH="1">
            <a:off x="3017520" y="310896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9" name="arrow_149"/>
          <p:cNvSpPr/>
          <p:nvPr/>
        </p:nvSpPr>
        <p:spPr>
          <a:xfrm>
            <a:off x="1783080" y="3520440"/>
            <a:ext cx="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0" name="arrow_150"/>
          <p:cNvSpPr/>
          <p:nvPr/>
        </p:nvSpPr>
        <p:spPr>
          <a:xfrm>
            <a:off x="3017520" y="438912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1" name="arrow_151"/>
          <p:cNvSpPr/>
          <p:nvPr/>
        </p:nvSpPr>
        <p:spPr>
          <a:xfrm>
            <a:off x="5897880" y="438912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2" name="arrow_152"/>
          <p:cNvSpPr/>
          <p:nvPr/>
        </p:nvSpPr>
        <p:spPr>
          <a:xfrm>
            <a:off x="7543800" y="4800600"/>
            <a:ext cx="0" cy="2286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3" name="arrow_153"/>
          <p:cNvSpPr/>
          <p:nvPr/>
        </p:nvSpPr>
        <p:spPr>
          <a:xfrm flipH="1">
            <a:off x="4663440" y="5029200"/>
            <a:ext cx="28803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4" name="arrow_154"/>
          <p:cNvSpPr/>
          <p:nvPr/>
        </p:nvSpPr>
        <p:spPr>
          <a:xfrm>
            <a:off x="4663440" y="5029200"/>
            <a:ext cx="0" cy="2286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5" name="arrow_155"/>
          <p:cNvSpPr/>
          <p:nvPr/>
        </p:nvSpPr>
        <p:spPr>
          <a:xfrm>
            <a:off x="7543800" y="5029200"/>
            <a:ext cx="28803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6" name="arrow_156"/>
          <p:cNvSpPr/>
          <p:nvPr/>
        </p:nvSpPr>
        <p:spPr>
          <a:xfrm>
            <a:off x="10424160" y="5029200"/>
            <a:ext cx="0" cy="2286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7" name="arrow_157"/>
          <p:cNvSpPr/>
          <p:nvPr/>
        </p:nvSpPr>
        <p:spPr>
          <a:xfrm>
            <a:off x="11658600" y="5669280"/>
            <a:ext cx="1828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8" name="arrow_158"/>
          <p:cNvSpPr/>
          <p:nvPr/>
        </p:nvSpPr>
        <p:spPr>
          <a:xfrm flipV="1">
            <a:off x="11841480" y="3108960"/>
            <a:ext cx="0" cy="25603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9" name="arrow_159"/>
          <p:cNvSpPr/>
          <p:nvPr/>
        </p:nvSpPr>
        <p:spPr>
          <a:xfrm flipH="1">
            <a:off x="11658600" y="3108960"/>
            <a:ext cx="1828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0" name="text_160"/>
          <p:cNvSpPr txBox="1"/>
          <p:nvPr/>
        </p:nvSpPr>
        <p:spPr>
          <a:xfrm>
            <a:off x="5989320" y="50657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Approved</a:t>
            </a:r>
            <a:endParaRPr lang="en-US" sz="1200" dirty="0"/>
          </a:p>
        </p:txBody>
      </p:sp>
      <p:sp>
        <p:nvSpPr>
          <p:cNvPr id="61" name="text_161"/>
          <p:cNvSpPr txBox="1"/>
          <p:nvPr/>
        </p:nvSpPr>
        <p:spPr>
          <a:xfrm>
            <a:off x="7772400" y="50657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Needs changes</a:t>
            </a:r>
            <a:endParaRPr lang="en-US" sz="1200" dirty="0"/>
          </a:p>
        </p:txBody>
      </p:sp>
      <p:sp>
        <p:nvSpPr>
          <p:cNvPr id="62" name="card_162"/>
          <p:cNvSpPr/>
          <p:nvPr/>
        </p:nvSpPr>
        <p:spPr>
          <a:xfrm>
            <a:off x="9189720" y="4023360"/>
            <a:ext cx="182880" cy="18288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63" name="text_163"/>
          <p:cNvSpPr txBox="1"/>
          <p:nvPr/>
        </p:nvSpPr>
        <p:spPr>
          <a:xfrm>
            <a:off x="9464040" y="4005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Owner setup</a:t>
            </a:r>
            <a:endParaRPr lang="en-US" sz="1200" dirty="0"/>
          </a:p>
        </p:txBody>
      </p:sp>
      <p:sp>
        <p:nvSpPr>
          <p:cNvPr id="64" name="card_164"/>
          <p:cNvSpPr/>
          <p:nvPr/>
        </p:nvSpPr>
        <p:spPr>
          <a:xfrm>
            <a:off x="9189720" y="4297680"/>
            <a:ext cx="182880" cy="18288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65" name="text_165"/>
          <p:cNvSpPr txBox="1"/>
          <p:nvPr/>
        </p:nvSpPr>
        <p:spPr>
          <a:xfrm>
            <a:off x="9464040" y="42793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Creator and system</a:t>
            </a:r>
            <a:endParaRPr lang="en-US" sz="1200" dirty="0"/>
          </a:p>
        </p:txBody>
      </p:sp>
      <p:sp>
        <p:nvSpPr>
          <p:cNvPr id="66" name="card_166"/>
          <p:cNvSpPr/>
          <p:nvPr/>
        </p:nvSpPr>
        <p:spPr>
          <a:xfrm>
            <a:off x="9189720" y="4572000"/>
            <a:ext cx="182880" cy="18288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67" name="text_167"/>
          <p:cNvSpPr txBox="1"/>
          <p:nvPr/>
        </p:nvSpPr>
        <p:spPr>
          <a:xfrm>
            <a:off x="9464040" y="4553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Manager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Technical architecture</a:t>
            </a:r>
            <a:endParaRPr lang="en-US" sz="3400" dirty="0"/>
          </a:p>
        </p:txBody>
      </p:sp>
      <p:sp>
        <p:nvSpPr>
          <p:cNvPr id="3" name="card_168"/>
          <p:cNvSpPr/>
          <p:nvPr/>
        </p:nvSpPr>
        <p:spPr>
          <a:xfrm>
            <a:off x="548640" y="1417320"/>
            <a:ext cx="6949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4" name="card_169"/>
          <p:cNvSpPr/>
          <p:nvPr/>
        </p:nvSpPr>
        <p:spPr>
          <a:xfrm>
            <a:off x="548640" y="1417320"/>
            <a:ext cx="173736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5" name="text_170"/>
          <p:cNvSpPr txBox="1"/>
          <p:nvPr/>
        </p:nvSpPr>
        <p:spPr>
          <a:xfrm>
            <a:off x="73152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text_171"/>
          <p:cNvSpPr txBox="1"/>
          <p:nvPr/>
        </p:nvSpPr>
        <p:spPr>
          <a:xfrm>
            <a:off x="73152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Three-panel review UI</a:t>
            </a:r>
            <a:endParaRPr lang="en-US" sz="1200" dirty="0"/>
          </a:p>
        </p:txBody>
      </p:sp>
      <p:sp>
        <p:nvSpPr>
          <p:cNvPr id="7" name="text_172"/>
          <p:cNvSpPr txBox="1"/>
          <p:nvPr/>
        </p:nvSpPr>
        <p:spPr>
          <a:xfrm>
            <a:off x="2514600" y="1463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 + Vite, Tailwind CSS, shadcn/ui (optional), Lucide icons.</a:t>
            </a:r>
            <a:endParaRPr lang="en-US" sz="1400" dirty="0"/>
          </a:p>
        </p:txBody>
      </p:sp>
      <p:sp>
        <p:nvSpPr>
          <p:cNvPr id="8" name="card_173"/>
          <p:cNvSpPr/>
          <p:nvPr/>
        </p:nvSpPr>
        <p:spPr>
          <a:xfrm>
            <a:off x="548640" y="2441448"/>
            <a:ext cx="6949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card_174"/>
          <p:cNvSpPr/>
          <p:nvPr/>
        </p:nvSpPr>
        <p:spPr>
          <a:xfrm>
            <a:off x="548640" y="2441448"/>
            <a:ext cx="173736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10" name="text_175"/>
          <p:cNvSpPr txBox="1"/>
          <p:nvPr/>
        </p:nvSpPr>
        <p:spPr>
          <a:xfrm>
            <a:off x="731520" y="2624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_176"/>
          <p:cNvSpPr txBox="1"/>
          <p:nvPr/>
        </p:nvSpPr>
        <p:spPr>
          <a:xfrm>
            <a:off x="731520" y="29443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API and permissions</a:t>
            </a:r>
            <a:endParaRPr lang="en-US" sz="1200" dirty="0"/>
          </a:p>
        </p:txBody>
      </p:sp>
      <p:sp>
        <p:nvSpPr>
          <p:cNvPr id="12" name="text_177"/>
          <p:cNvSpPr txBox="1"/>
          <p:nvPr/>
        </p:nvSpPr>
        <p:spPr>
          <a:xfrm>
            <a:off x="2514600" y="24871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Node.js + Express, Zod validation, authentication and role checks, server-side upload validation.</a:t>
            </a:r>
            <a:endParaRPr lang="en-US" sz="1400" dirty="0"/>
          </a:p>
        </p:txBody>
      </p:sp>
      <p:sp>
        <p:nvSpPr>
          <p:cNvPr id="13" name="card_178"/>
          <p:cNvSpPr/>
          <p:nvPr/>
        </p:nvSpPr>
        <p:spPr>
          <a:xfrm>
            <a:off x="548640" y="3465576"/>
            <a:ext cx="6949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card_179"/>
          <p:cNvSpPr/>
          <p:nvPr/>
        </p:nvSpPr>
        <p:spPr>
          <a:xfrm>
            <a:off x="548640" y="3465576"/>
            <a:ext cx="173736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15" name="text_180"/>
          <p:cNvSpPr txBox="1"/>
          <p:nvPr/>
        </p:nvSpPr>
        <p:spPr>
          <a:xfrm>
            <a:off x="731520" y="3648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</a:t>
            </a:r>
            <a:endParaRPr lang="en-US" sz="1600" dirty="0"/>
          </a:p>
        </p:txBody>
      </p:sp>
      <p:sp>
        <p:nvSpPr>
          <p:cNvPr id="16" name="text_181"/>
          <p:cNvSpPr txBox="1"/>
          <p:nvPr/>
        </p:nvSpPr>
        <p:spPr>
          <a:xfrm>
            <a:off x="731520" y="39684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Sources and history</a:t>
            </a:r>
            <a:endParaRPr lang="en-US" sz="1200" dirty="0"/>
          </a:p>
        </p:txBody>
      </p:sp>
      <p:sp>
        <p:nvSpPr>
          <p:cNvPr id="17" name="text_182"/>
          <p:cNvSpPr txBox="1"/>
          <p:nvPr/>
        </p:nvSpPr>
        <p:spPr>
          <a:xfrm>
            <a:off x="2514600" y="351129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 via Supabase Free or local. File storage still to be decided.</a:t>
            </a:r>
            <a:endParaRPr lang="en-US" sz="1400" dirty="0"/>
          </a:p>
        </p:txBody>
      </p:sp>
      <p:sp>
        <p:nvSpPr>
          <p:cNvPr id="18" name="card_183"/>
          <p:cNvSpPr/>
          <p:nvPr/>
        </p:nvSpPr>
        <p:spPr>
          <a:xfrm>
            <a:off x="548640" y="4489704"/>
            <a:ext cx="6949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9" name="card_184"/>
          <p:cNvSpPr/>
          <p:nvPr/>
        </p:nvSpPr>
        <p:spPr>
          <a:xfrm>
            <a:off x="548640" y="4489704"/>
            <a:ext cx="173736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20" name="text_185"/>
          <p:cNvSpPr txBox="1"/>
          <p:nvPr/>
        </p:nvSpPr>
        <p:spPr>
          <a:xfrm>
            <a:off x="731520" y="4672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 engine</a:t>
            </a:r>
            <a:endParaRPr lang="en-US" sz="1600" dirty="0"/>
          </a:p>
        </p:txBody>
      </p:sp>
      <p:sp>
        <p:nvSpPr>
          <p:cNvPr id="21" name="text_186"/>
          <p:cNvSpPr txBox="1"/>
          <p:nvPr/>
        </p:nvSpPr>
        <p:spPr>
          <a:xfrm>
            <a:off x="731520" y="49926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Rules plus local models</a:t>
            </a:r>
            <a:endParaRPr lang="en-US" sz="1200" dirty="0"/>
          </a:p>
        </p:txBody>
      </p:sp>
      <p:sp>
        <p:nvSpPr>
          <p:cNvPr id="22" name="text_187"/>
          <p:cNvSpPr txBox="1"/>
          <p:nvPr/>
        </p:nvSpPr>
        <p:spPr>
          <a:xfrm>
            <a:off x="2514600" y="453542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 checks; all-MiniLM-L6-v2 retrieval; DeBERTa-v3 tone; Qwen3-4B explanations. Optional: OpenCV, PaddleOCR, CLIP, Florence-2.</a:t>
            </a:r>
            <a:endParaRPr lang="en-US" sz="1400" dirty="0"/>
          </a:p>
        </p:txBody>
      </p:sp>
      <p:sp>
        <p:nvSpPr>
          <p:cNvPr id="23" name="card_188"/>
          <p:cNvSpPr/>
          <p:nvPr/>
        </p:nvSpPr>
        <p:spPr>
          <a:xfrm>
            <a:off x="7772400" y="1417320"/>
            <a:ext cx="3870655" cy="3986784"/>
          </a:xfrm>
          <a:prstGeom prst="roundRect">
            <a:avLst>
              <a:gd name="adj" fmla="val 2835"/>
            </a:avLst>
          </a:prstGeom>
          <a:solidFill>
            <a:schemeClr val="tx2"/>
          </a:solidFill>
          <a:ln/>
        </p:spPr>
      </p:sp>
      <p:sp>
        <p:nvSpPr>
          <p:cNvPr id="24" name="text_189"/>
          <p:cNvSpPr txBox="1"/>
          <p:nvPr/>
        </p:nvSpPr>
        <p:spPr>
          <a:xfrm>
            <a:off x="804672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HOW A FINDING IS MADE</a:t>
            </a:r>
            <a:endParaRPr lang="en-US" sz="1200" dirty="0"/>
          </a:p>
        </p:txBody>
      </p:sp>
      <p:sp>
        <p:nvSpPr>
          <p:cNvPr id="25" name="num_190"/>
          <p:cNvSpPr txBox="1"/>
          <p:nvPr/>
        </p:nvSpPr>
        <p:spPr>
          <a:xfrm>
            <a:off x="8046720" y="21488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text_191"/>
          <p:cNvSpPr txBox="1"/>
          <p:nvPr/>
        </p:nvSpPr>
        <p:spPr>
          <a:xfrm>
            <a:off x="8595360" y="21031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Retrieve: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MiniLM finds the relevant approved sources.</a:t>
            </a:r>
            <a:endParaRPr lang="en-US" sz="1400" dirty="0"/>
          </a:p>
        </p:txBody>
      </p:sp>
      <p:sp>
        <p:nvSpPr>
          <p:cNvPr id="27" name="num_192"/>
          <p:cNvSpPr txBox="1"/>
          <p:nvPr/>
        </p:nvSpPr>
        <p:spPr>
          <a:xfrm>
            <a:off x="8046720" y="29535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8" name="text_193"/>
          <p:cNvSpPr txBox="1"/>
          <p:nvPr/>
        </p:nvSpPr>
        <p:spPr>
          <a:xfrm>
            <a:off x="8595360" y="290779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Check: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Rules catch terms, facts, claims; DeBERTa scores tone.</a:t>
            </a:r>
            <a:endParaRPr lang="en-US" sz="1400" dirty="0"/>
          </a:p>
        </p:txBody>
      </p:sp>
      <p:sp>
        <p:nvSpPr>
          <p:cNvPr id="29" name="num_194"/>
          <p:cNvSpPr txBox="1"/>
          <p:nvPr/>
        </p:nvSpPr>
        <p:spPr>
          <a:xfrm>
            <a:off x="8046720" y="37581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0" name="text_195"/>
          <p:cNvSpPr txBox="1"/>
          <p:nvPr/>
        </p:nvSpPr>
        <p:spPr>
          <a:xfrm>
            <a:off x="8595360" y="371246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Explain: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Qwen3-4B explains and drafts a grounded fix.</a:t>
            </a:r>
            <a:endParaRPr lang="en-US" sz="1400" dirty="0"/>
          </a:p>
        </p:txBody>
      </p:sp>
      <p:sp>
        <p:nvSpPr>
          <p:cNvPr id="31" name="num_196"/>
          <p:cNvSpPr txBox="1"/>
          <p:nvPr/>
        </p:nvSpPr>
        <p:spPr>
          <a:xfrm>
            <a:off x="8046720" y="45628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_197"/>
          <p:cNvSpPr txBox="1"/>
          <p:nvPr/>
        </p:nvSpPr>
        <p:spPr>
          <a:xfrm>
            <a:off x="8595360" y="451713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Normalise: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finding record: source-backed or uncertain.</a:t>
            </a:r>
            <a:endParaRPr lang="en-US" sz="1400" dirty="0"/>
          </a:p>
        </p:txBody>
      </p:sp>
      <p:sp>
        <p:nvSpPr>
          <p:cNvPr id="33" name="card_198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34" name="text_199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Constraints: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₹0 budget, local inference and free tiers first, every model licence verified. This stack is a plan, confirmed during the build.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Privacy, security, human control</a:t>
            </a:r>
            <a:endParaRPr lang="en-US" sz="3400" dirty="0"/>
          </a:p>
        </p:txBody>
      </p:sp>
      <p:sp>
        <p:nvSpPr>
          <p:cNvPr id="3" name="card_200"/>
          <p:cNvSpPr/>
          <p:nvPr/>
        </p:nvSpPr>
        <p:spPr>
          <a:xfrm>
            <a:off x="54864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" name="iconbg_201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202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text_203"/>
          <p:cNvSpPr txBox="1"/>
          <p:nvPr/>
        </p:nvSpPr>
        <p:spPr>
          <a:xfrm>
            <a:off x="82296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Workspace isolation</a:t>
            </a:r>
            <a:endParaRPr lang="en-US" sz="1600" dirty="0"/>
          </a:p>
        </p:txBody>
      </p:sp>
      <p:sp>
        <p:nvSpPr>
          <p:cNvPr id="7" name="text_204"/>
          <p:cNvSpPr txBox="1"/>
          <p:nvPr/>
        </p:nvSpPr>
        <p:spPr>
          <a:xfrm>
            <a:off x="82296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Organisation boundaries and roles are enforced on the backend, not only in the UI.</a:t>
            </a:r>
            <a:endParaRPr lang="en-US" sz="1400" dirty="0"/>
          </a:p>
        </p:txBody>
      </p:sp>
      <p:sp>
        <p:nvSpPr>
          <p:cNvPr id="8" name="card_205"/>
          <p:cNvSpPr/>
          <p:nvPr/>
        </p:nvSpPr>
        <p:spPr>
          <a:xfrm>
            <a:off x="4311396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9" name="iconbg_206"/>
          <p:cNvSpPr/>
          <p:nvPr/>
        </p:nvSpPr>
        <p:spPr>
          <a:xfrm>
            <a:off x="4585716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_207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1783080"/>
            <a:ext cx="274320" cy="274320"/>
          </a:xfrm>
          <a:prstGeom prst="rect">
            <a:avLst/>
          </a:prstGeom>
        </p:spPr>
      </p:pic>
      <p:sp>
        <p:nvSpPr>
          <p:cNvPr id="11" name="text_208"/>
          <p:cNvSpPr txBox="1"/>
          <p:nvPr/>
        </p:nvSpPr>
        <p:spPr>
          <a:xfrm>
            <a:off x="4585716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Secrets and logging</a:t>
            </a:r>
            <a:endParaRPr lang="en-US" sz="1600" dirty="0"/>
          </a:p>
        </p:txBody>
      </p:sp>
      <p:sp>
        <p:nvSpPr>
          <p:cNvPr id="12" name="text_209"/>
          <p:cNvSpPr txBox="1"/>
          <p:nvPr/>
        </p:nvSpPr>
        <p:spPr>
          <a:xfrm>
            <a:off x="4585716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 keys stay in environment variables. Confidential content is not logged.</a:t>
            </a:r>
            <a:endParaRPr lang="en-US" sz="1400" dirty="0"/>
          </a:p>
        </p:txBody>
      </p:sp>
      <p:sp>
        <p:nvSpPr>
          <p:cNvPr id="13" name="card_210"/>
          <p:cNvSpPr/>
          <p:nvPr/>
        </p:nvSpPr>
        <p:spPr>
          <a:xfrm>
            <a:off x="8074152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4" name="iconbg_211"/>
          <p:cNvSpPr/>
          <p:nvPr/>
        </p:nvSpPr>
        <p:spPr>
          <a:xfrm>
            <a:off x="8348472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_21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783080"/>
            <a:ext cx="274320" cy="274320"/>
          </a:xfrm>
          <a:prstGeom prst="rect">
            <a:avLst/>
          </a:prstGeom>
        </p:spPr>
      </p:pic>
      <p:sp>
        <p:nvSpPr>
          <p:cNvPr id="16" name="text_213"/>
          <p:cNvSpPr txBox="1"/>
          <p:nvPr/>
        </p:nvSpPr>
        <p:spPr>
          <a:xfrm>
            <a:off x="8348472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use disclosed</a:t>
            </a:r>
            <a:endParaRPr lang="en-US" sz="1600" dirty="0"/>
          </a:p>
        </p:txBody>
      </p:sp>
      <p:sp>
        <p:nvSpPr>
          <p:cNvPr id="17" name="text_214"/>
          <p:cNvSpPr txBox="1"/>
          <p:nvPr/>
        </p:nvSpPr>
        <p:spPr>
          <a:xfrm>
            <a:off x="8348472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 models first. Any external service is disclosed, with data handling checked.</a:t>
            </a:r>
            <a:endParaRPr lang="en-US" sz="1400" dirty="0"/>
          </a:p>
        </p:txBody>
      </p:sp>
      <p:sp>
        <p:nvSpPr>
          <p:cNvPr id="18" name="card_215"/>
          <p:cNvSpPr/>
          <p:nvPr/>
        </p:nvSpPr>
        <p:spPr>
          <a:xfrm>
            <a:off x="548640" y="393192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9" name="iconbg_216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_217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97680"/>
            <a:ext cx="274320" cy="274320"/>
          </a:xfrm>
          <a:prstGeom prst="rect">
            <a:avLst/>
          </a:prstGeom>
        </p:spPr>
      </p:pic>
      <p:sp>
        <p:nvSpPr>
          <p:cNvPr id="21" name="text_218"/>
          <p:cNvSpPr txBox="1"/>
          <p:nvPr/>
        </p:nvSpPr>
        <p:spPr>
          <a:xfrm>
            <a:off x="822960" y="4846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Human control</a:t>
            </a:r>
            <a:endParaRPr lang="en-US" sz="1600" dirty="0"/>
          </a:p>
        </p:txBody>
      </p:sp>
      <p:sp>
        <p:nvSpPr>
          <p:cNvPr id="22" name="text_219"/>
          <p:cNvSpPr txBox="1"/>
          <p:nvPr/>
        </p:nvSpPr>
        <p:spPr>
          <a:xfrm>
            <a:off x="822960" y="5212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Nothing is published automatically. Creators and reviewers make the final call.</a:t>
            </a:r>
            <a:endParaRPr lang="en-US" sz="1400" dirty="0"/>
          </a:p>
        </p:txBody>
      </p:sp>
      <p:sp>
        <p:nvSpPr>
          <p:cNvPr id="23" name="card_220"/>
          <p:cNvSpPr/>
          <p:nvPr/>
        </p:nvSpPr>
        <p:spPr>
          <a:xfrm>
            <a:off x="4311396" y="393192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4" name="iconbg_221"/>
          <p:cNvSpPr/>
          <p:nvPr/>
        </p:nvSpPr>
        <p:spPr>
          <a:xfrm>
            <a:off x="4585716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_222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876" y="4297680"/>
            <a:ext cx="274320" cy="274320"/>
          </a:xfrm>
          <a:prstGeom prst="rect">
            <a:avLst/>
          </a:prstGeom>
        </p:spPr>
      </p:pic>
      <p:sp>
        <p:nvSpPr>
          <p:cNvPr id="26" name="text_223"/>
          <p:cNvSpPr txBox="1"/>
          <p:nvPr/>
        </p:nvSpPr>
        <p:spPr>
          <a:xfrm>
            <a:off x="4585716" y="4846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Explainable findings</a:t>
            </a:r>
            <a:endParaRPr lang="en-US" sz="1600" dirty="0"/>
          </a:p>
        </p:txBody>
      </p:sp>
      <p:sp>
        <p:nvSpPr>
          <p:cNvPr id="27" name="text_224"/>
          <p:cNvSpPr txBox="1"/>
          <p:nvPr/>
        </p:nvSpPr>
        <p:spPr>
          <a:xfrm>
            <a:off x="4585716" y="5212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flag shows its reason and source. Users can challenge a finding.</a:t>
            </a:r>
            <a:endParaRPr lang="en-US" sz="1400" dirty="0"/>
          </a:p>
        </p:txBody>
      </p:sp>
      <p:sp>
        <p:nvSpPr>
          <p:cNvPr id="28" name="card_225"/>
          <p:cNvSpPr/>
          <p:nvPr/>
        </p:nvSpPr>
        <p:spPr>
          <a:xfrm>
            <a:off x="8074152" y="393192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9" name="iconbg_226"/>
          <p:cNvSpPr/>
          <p:nvPr/>
        </p:nvSpPr>
        <p:spPr>
          <a:xfrm>
            <a:off x="8348472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_227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297680"/>
            <a:ext cx="274320" cy="274320"/>
          </a:xfrm>
          <a:prstGeom prst="rect">
            <a:avLst/>
          </a:prstGeom>
        </p:spPr>
      </p:pic>
      <p:sp>
        <p:nvSpPr>
          <p:cNvPr id="31" name="text_228"/>
          <p:cNvSpPr txBox="1"/>
          <p:nvPr/>
        </p:nvSpPr>
        <p:spPr>
          <a:xfrm>
            <a:off x="8348472" y="4846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Honest limits</a:t>
            </a:r>
            <a:endParaRPr lang="en-US" sz="1600" dirty="0"/>
          </a:p>
        </p:txBody>
      </p:sp>
      <p:sp>
        <p:nvSpPr>
          <p:cNvPr id="32" name="text_229"/>
          <p:cNvSpPr txBox="1"/>
          <p:nvPr/>
        </p:nvSpPr>
        <p:spPr>
          <a:xfrm>
            <a:off x="8348472" y="5212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Uncertainty is shown. We claim only checks that are implemented and tested.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Team Voxen and development plan</a:t>
            </a:r>
            <a:endParaRPr lang="en-US" sz="3400" dirty="0"/>
          </a:p>
        </p:txBody>
      </p:sp>
      <p:sp>
        <p:nvSpPr>
          <p:cNvPr id="3" name="card_230"/>
          <p:cNvSpPr/>
          <p:nvPr/>
        </p:nvSpPr>
        <p:spPr>
          <a:xfrm>
            <a:off x="548640" y="137160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4" name="avatar_231"/>
          <p:cNvSpPr txBox="1"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</a:t>
            </a:r>
            <a:endParaRPr lang="en-US" sz="1800" dirty="0"/>
          </a:p>
        </p:txBody>
      </p:sp>
      <p:sp>
        <p:nvSpPr>
          <p:cNvPr id="5" name="text_232"/>
          <p:cNvSpPr txBox="1"/>
          <p:nvPr/>
        </p:nvSpPr>
        <p:spPr>
          <a:xfrm>
            <a:off x="1508760" y="15361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Deepesh Kumar Prajapati</a:t>
            </a:r>
            <a:endParaRPr lang="en-US" sz="1500" dirty="0"/>
          </a:p>
        </p:txBody>
      </p:sp>
      <p:sp>
        <p:nvSpPr>
          <p:cNvPr id="6" name="text_233"/>
          <p:cNvSpPr txBox="1"/>
          <p:nvPr/>
        </p:nvSpPr>
        <p:spPr>
          <a:xfrm>
            <a:off x="150876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text_234"/>
          <p:cNvSpPr txBox="1"/>
          <p:nvPr/>
        </p:nvSpPr>
        <p:spPr>
          <a:xfrm>
            <a:off x="731520" y="2514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React review UI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Three-panel layout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Findings in context</a:t>
            </a:r>
            <a:endParaRPr lang="en-US" sz="1400" dirty="0"/>
          </a:p>
        </p:txBody>
      </p:sp>
      <p:sp>
        <p:nvSpPr>
          <p:cNvPr id="8" name="card_235"/>
          <p:cNvSpPr/>
          <p:nvPr/>
        </p:nvSpPr>
        <p:spPr>
          <a:xfrm>
            <a:off x="3377154" y="137160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9" name="avatar_236"/>
          <p:cNvSpPr txBox="1"/>
          <p:nvPr/>
        </p:nvSpPr>
        <p:spPr>
          <a:xfrm>
            <a:off x="3560034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800" dirty="0"/>
          </a:p>
        </p:txBody>
      </p:sp>
      <p:sp>
        <p:nvSpPr>
          <p:cNvPr id="10" name="text_237"/>
          <p:cNvSpPr txBox="1"/>
          <p:nvPr/>
        </p:nvSpPr>
        <p:spPr>
          <a:xfrm>
            <a:off x="4337274" y="15361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Kajal</a:t>
            </a:r>
            <a:endParaRPr lang="en-US" sz="1500" dirty="0"/>
          </a:p>
        </p:txBody>
      </p:sp>
      <p:sp>
        <p:nvSpPr>
          <p:cNvPr id="11" name="text_238"/>
          <p:cNvSpPr txBox="1"/>
          <p:nvPr/>
        </p:nvSpPr>
        <p:spPr>
          <a:xfrm>
            <a:off x="4337274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AI and ML</a:t>
            </a:r>
            <a:endParaRPr lang="en-US" sz="1300" dirty="0"/>
          </a:p>
        </p:txBody>
      </p:sp>
      <p:sp>
        <p:nvSpPr>
          <p:cNvPr id="12" name="text_239"/>
          <p:cNvSpPr txBox="1"/>
          <p:nvPr/>
        </p:nvSpPr>
        <p:spPr>
          <a:xfrm>
            <a:off x="3560034" y="2514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Embeddings, tone model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Local LLM, grounding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quality checks</a:t>
            </a:r>
            <a:endParaRPr lang="en-US" sz="1400" dirty="0"/>
          </a:p>
        </p:txBody>
      </p:sp>
      <p:sp>
        <p:nvSpPr>
          <p:cNvPr id="13" name="card_240"/>
          <p:cNvSpPr/>
          <p:nvPr/>
        </p:nvSpPr>
        <p:spPr>
          <a:xfrm>
            <a:off x="6205667" y="137160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4" name="avatar_241"/>
          <p:cNvSpPr txBox="1"/>
          <p:nvPr/>
        </p:nvSpPr>
        <p:spPr>
          <a:xfrm>
            <a:off x="6388547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</a:t>
            </a:r>
            <a:endParaRPr lang="en-US" sz="1800" dirty="0"/>
          </a:p>
        </p:txBody>
      </p:sp>
      <p:sp>
        <p:nvSpPr>
          <p:cNvPr id="15" name="text_242"/>
          <p:cNvSpPr txBox="1"/>
          <p:nvPr/>
        </p:nvSpPr>
        <p:spPr>
          <a:xfrm>
            <a:off x="7165787" y="15361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Som Sahu</a:t>
            </a:r>
            <a:endParaRPr lang="en-US" sz="1500" dirty="0"/>
          </a:p>
        </p:txBody>
      </p:sp>
      <p:sp>
        <p:nvSpPr>
          <p:cNvPr id="16" name="text_243"/>
          <p:cNvSpPr txBox="1"/>
          <p:nvPr/>
        </p:nvSpPr>
        <p:spPr>
          <a:xfrm>
            <a:off x="7165787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Backend</a:t>
            </a:r>
            <a:endParaRPr lang="en-US" sz="1300" dirty="0"/>
          </a:p>
        </p:txBody>
      </p:sp>
      <p:sp>
        <p:nvSpPr>
          <p:cNvPr id="17" name="text_244"/>
          <p:cNvSpPr txBox="1"/>
          <p:nvPr/>
        </p:nvSpPr>
        <p:spPr>
          <a:xfrm>
            <a:off x="6388547" y="2514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Express API and auth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PostgreSQL and storage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orchestration</a:t>
            </a:r>
            <a:endParaRPr lang="en-US" sz="1400" dirty="0"/>
          </a:p>
        </p:txBody>
      </p:sp>
      <p:sp>
        <p:nvSpPr>
          <p:cNvPr id="18" name="card_245"/>
          <p:cNvSpPr/>
          <p:nvPr/>
        </p:nvSpPr>
        <p:spPr>
          <a:xfrm>
            <a:off x="9034181" y="137160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avatar_246"/>
          <p:cNvSpPr txBox="1"/>
          <p:nvPr/>
        </p:nvSpPr>
        <p:spPr>
          <a:xfrm>
            <a:off x="9217061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</a:t>
            </a:r>
            <a:endParaRPr lang="en-US" sz="1800" dirty="0"/>
          </a:p>
        </p:txBody>
      </p:sp>
      <p:sp>
        <p:nvSpPr>
          <p:cNvPr id="20" name="text_247"/>
          <p:cNvSpPr txBox="1"/>
          <p:nvPr/>
        </p:nvSpPr>
        <p:spPr>
          <a:xfrm>
            <a:off x="9994301" y="15361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Pragya Singh</a:t>
            </a:r>
            <a:endParaRPr lang="en-US" sz="1500" dirty="0"/>
          </a:p>
        </p:txBody>
      </p:sp>
      <p:sp>
        <p:nvSpPr>
          <p:cNvPr id="21" name="text_248"/>
          <p:cNvSpPr txBox="1"/>
          <p:nvPr/>
        </p:nvSpPr>
        <p:spPr>
          <a:xfrm>
            <a:off x="9994301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Integration and testing</a:t>
            </a:r>
            <a:endParaRPr lang="en-US" sz="1300" dirty="0"/>
          </a:p>
        </p:txBody>
      </p:sp>
      <p:sp>
        <p:nvSpPr>
          <p:cNvPr id="22" name="text_249"/>
          <p:cNvSpPr txBox="1"/>
          <p:nvPr/>
        </p:nvSpPr>
        <p:spPr>
          <a:xfrm>
            <a:off x="9217061" y="2514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End-to-end integration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data, failure cases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Setup documentation</a:t>
            </a:r>
            <a:endParaRPr lang="en-US" sz="1400" dirty="0"/>
          </a:p>
        </p:txBody>
      </p:sp>
      <p:sp>
        <p:nvSpPr>
          <p:cNvPr id="23" name="card_250"/>
          <p:cNvSpPr/>
          <p:nvPr/>
        </p:nvSpPr>
        <p:spPr>
          <a:xfrm>
            <a:off x="548640" y="379476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pill_251"/>
          <p:cNvSpPr txBox="1"/>
          <p:nvPr/>
        </p:nvSpPr>
        <p:spPr>
          <a:xfrm>
            <a:off x="731520" y="3977640"/>
            <a:ext cx="1188720" cy="310896"/>
          </a:xfrm>
          <a:prstGeom prst="roundRect">
            <a:avLst>
              <a:gd name="adj" fmla="val 441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PHASE 1</a:t>
            </a:r>
            <a:endParaRPr lang="en-US" sz="1200" dirty="0"/>
          </a:p>
        </p:txBody>
      </p:sp>
      <p:sp>
        <p:nvSpPr>
          <p:cNvPr id="25" name="text_252"/>
          <p:cNvSpPr txBox="1"/>
          <p:nvPr/>
        </p:nvSpPr>
        <p:spPr>
          <a:xfrm>
            <a:off x="73152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Core loop</a:t>
            </a:r>
            <a:endParaRPr lang="en-US" sz="1600" dirty="0"/>
          </a:p>
        </p:txBody>
      </p:sp>
      <p:sp>
        <p:nvSpPr>
          <p:cNvPr id="26" name="text_253"/>
          <p:cNvSpPr txBox="1"/>
          <p:nvPr/>
        </p:nvSpPr>
        <p:spPr>
          <a:xfrm>
            <a:off x="731520" y="48280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Sources and text input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Rules and model review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Findings, decisions</a:t>
            </a:r>
            <a:endParaRPr lang="en-US" sz="1400" dirty="0"/>
          </a:p>
        </p:txBody>
      </p:sp>
      <p:sp>
        <p:nvSpPr>
          <p:cNvPr id="27" name="card_254"/>
          <p:cNvSpPr/>
          <p:nvPr/>
        </p:nvSpPr>
        <p:spPr>
          <a:xfrm>
            <a:off x="3377154" y="379476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8" name="pill_255"/>
          <p:cNvSpPr txBox="1"/>
          <p:nvPr/>
        </p:nvSpPr>
        <p:spPr>
          <a:xfrm>
            <a:off x="3560034" y="3977640"/>
            <a:ext cx="1188720" cy="310896"/>
          </a:xfrm>
          <a:prstGeom prst="roundRect">
            <a:avLst>
              <a:gd name="adj" fmla="val 441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PHASE 2</a:t>
            </a:r>
            <a:endParaRPr lang="en-US" sz="1200" dirty="0"/>
          </a:p>
        </p:txBody>
      </p:sp>
      <p:sp>
        <p:nvSpPr>
          <p:cNvPr id="29" name="text_256"/>
          <p:cNvSpPr txBox="1"/>
          <p:nvPr/>
        </p:nvSpPr>
        <p:spPr>
          <a:xfrm>
            <a:off x="3560034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Complete the story</a:t>
            </a:r>
            <a:endParaRPr lang="en-US" sz="1600" dirty="0"/>
          </a:p>
        </p:txBody>
      </p:sp>
      <p:sp>
        <p:nvSpPr>
          <p:cNvPr id="30" name="text_257"/>
          <p:cNvSpPr txBox="1"/>
          <p:nvPr/>
        </p:nvSpPr>
        <p:spPr>
          <a:xfrm>
            <a:off x="3560034" y="48280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Share, comment, approve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Revision history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Role-based access</a:t>
            </a:r>
            <a:endParaRPr lang="en-US" sz="1400" dirty="0"/>
          </a:p>
        </p:txBody>
      </p:sp>
      <p:sp>
        <p:nvSpPr>
          <p:cNvPr id="31" name="card_258"/>
          <p:cNvSpPr/>
          <p:nvPr/>
        </p:nvSpPr>
        <p:spPr>
          <a:xfrm>
            <a:off x="6205667" y="379476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2" name="pill_259"/>
          <p:cNvSpPr txBox="1"/>
          <p:nvPr/>
        </p:nvSpPr>
        <p:spPr>
          <a:xfrm>
            <a:off x="6388547" y="3977640"/>
            <a:ext cx="1188720" cy="310896"/>
          </a:xfrm>
          <a:prstGeom prst="roundRect">
            <a:avLst>
              <a:gd name="adj" fmla="val 4411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PHASE 3</a:t>
            </a:r>
            <a:endParaRPr lang="en-US" sz="1200" dirty="0"/>
          </a:p>
        </p:txBody>
      </p:sp>
      <p:sp>
        <p:nvSpPr>
          <p:cNvPr id="33" name="text_260"/>
          <p:cNvSpPr txBox="1"/>
          <p:nvPr/>
        </p:nvSpPr>
        <p:spPr>
          <a:xfrm>
            <a:off x="6388547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If time permits</a:t>
            </a:r>
            <a:endParaRPr lang="en-US" sz="1600" dirty="0"/>
          </a:p>
        </p:txBody>
      </p:sp>
      <p:sp>
        <p:nvSpPr>
          <p:cNvPr id="34" name="text_261"/>
          <p:cNvSpPr txBox="1"/>
          <p:nvPr/>
        </p:nvSpPr>
        <p:spPr>
          <a:xfrm>
            <a:off x="6388547" y="48280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Image, document formats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Accessibility checks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Repeated-mistake insights</a:t>
            </a:r>
            <a:endParaRPr lang="en-US" sz="1400" dirty="0"/>
          </a:p>
        </p:txBody>
      </p:sp>
      <p:sp>
        <p:nvSpPr>
          <p:cNvPr id="35" name="card_262"/>
          <p:cNvSpPr/>
          <p:nvPr/>
        </p:nvSpPr>
        <p:spPr>
          <a:xfrm>
            <a:off x="9034181" y="379476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6" name="pill_263"/>
          <p:cNvSpPr txBox="1"/>
          <p:nvPr/>
        </p:nvSpPr>
        <p:spPr>
          <a:xfrm>
            <a:off x="9217061" y="3977640"/>
            <a:ext cx="1188720" cy="310896"/>
          </a:xfrm>
          <a:prstGeom prst="roundRect">
            <a:avLst>
              <a:gd name="adj" fmla="val 4411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</a:rPr>
              <a:t>FINAL</a:t>
            </a:r>
            <a:endParaRPr lang="en-US" sz="1200" dirty="0"/>
          </a:p>
        </p:txBody>
      </p:sp>
      <p:sp>
        <p:nvSpPr>
          <p:cNvPr id="37" name="text_264"/>
          <p:cNvSpPr txBox="1"/>
          <p:nvPr/>
        </p:nvSpPr>
        <p:spPr>
          <a:xfrm>
            <a:off x="9217061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 and ship</a:t>
            </a:r>
            <a:endParaRPr lang="en-US" sz="1600" dirty="0"/>
          </a:p>
        </p:txBody>
      </p:sp>
      <p:sp>
        <p:nvSpPr>
          <p:cNvPr id="38" name="text_265"/>
          <p:cNvSpPr txBox="1"/>
          <p:nvPr/>
        </p:nvSpPr>
        <p:spPr>
          <a:xfrm>
            <a:off x="9217061" y="48280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End-to-end tests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Failure cases, docs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 rehearsal</a:t>
            </a:r>
            <a:endParaRPr lang="en-US" sz="1400" dirty="0"/>
          </a:p>
        </p:txBody>
      </p:sp>
      <p:sp>
        <p:nvSpPr>
          <p:cNvPr id="39" name="text_266"/>
          <p:cNvSpPr txBox="1"/>
          <p:nvPr/>
        </p:nvSpPr>
        <p:spPr>
          <a:xfrm>
            <a:off x="548640" y="60167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Dates will be set once the official build window is confirmed. Task split inside each role is a proposal.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Expected impact, measured honestly</a:t>
            </a:r>
            <a:endParaRPr lang="en-US" sz="3400" dirty="0"/>
          </a:p>
        </p:txBody>
      </p:sp>
      <p:graphicFrame>
        <p:nvGraphicFramePr>
          <p:cNvPr id="11" name="impact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we will measure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we will get it honestly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</a:rPr>
                        <a:t>Issues caught on a seeded test set; false positives on clean content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Run our labelled test set; report hits, misses and false positives.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</a:rPr>
                        <a:t>Findings with a valid source reference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Counted automatically from finding records.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</a:rPr>
                        <a:t>Review time with and without the tool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Time a few realistic tasks; state the sample size.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</a:rPr>
                        <a:t>Repeat mistakes surfaced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Derived only from recorded decisions in the demo workspace.</a:t>
                      </a:r>
                      <a:endParaRPr lang="en-US" sz="1300" dirty="0"/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4" name="card_267"/>
          <p:cNvSpPr/>
          <p:nvPr/>
        </p:nvSpPr>
        <p:spPr>
          <a:xfrm>
            <a:off x="548640" y="5166360"/>
            <a:ext cx="6766560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/>
        </p:spPr>
      </p:sp>
      <p:sp>
        <p:nvSpPr>
          <p:cNvPr id="5" name="text_268"/>
          <p:cNvSpPr txBox="1"/>
          <p:nvPr/>
        </p:nvSpPr>
        <p:spPr>
          <a:xfrm>
            <a:off x="822960" y="52578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We will not quote impact numbers before we have measured them.</a:t>
            </a:r>
            <a:endParaRPr lang="en-US" sz="1600" dirty="0"/>
          </a:p>
        </p:txBody>
      </p:sp>
      <p:sp>
        <p:nvSpPr>
          <p:cNvPr id="6" name="card_269"/>
          <p:cNvSpPr/>
          <p:nvPr/>
        </p:nvSpPr>
        <p:spPr>
          <a:xfrm>
            <a:off x="7589520" y="1417320"/>
            <a:ext cx="4053535" cy="4754880"/>
          </a:xfrm>
          <a:prstGeom prst="roundRect">
            <a:avLst>
              <a:gd name="adj" fmla="val 2707"/>
            </a:avLst>
          </a:prstGeom>
          <a:solidFill>
            <a:schemeClr val="tx2"/>
          </a:solidFill>
          <a:ln/>
        </p:spPr>
      </p:sp>
      <p:sp>
        <p:nvSpPr>
          <p:cNvPr id="7" name="text_270"/>
          <p:cNvSpPr txBox="1"/>
          <p:nvPr/>
        </p:nvSpPr>
        <p:spPr>
          <a:xfrm>
            <a:off x="790956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RISKS AND MITIGATIONS</a:t>
            </a:r>
            <a:endParaRPr lang="en-US" sz="1200" dirty="0"/>
          </a:p>
        </p:txBody>
      </p:sp>
      <p:sp>
        <p:nvSpPr>
          <p:cNvPr id="8" name="text_271"/>
          <p:cNvSpPr txBox="1"/>
          <p:nvPr/>
        </p:nvSpPr>
        <p:spPr>
          <a:xfrm>
            <a:off x="7909560" y="2240280"/>
            <a:ext cx="3474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False positives: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show the source, let users challenge.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Local model needs hardware: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test early, fall back to rules.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Free tiers can pause or limit: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verify terms, keep a local option.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Scope creep: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finish the core loop first.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ndCheck">
  <a:themeElements>
    <a:clrScheme name="BrandCheck">
      <a:dk1>
        <a:srgbClr val="1B2B2E"/>
      </a:dk1>
      <a:lt1>
        <a:srgbClr val="FFFFFF"/>
      </a:lt1>
      <a:dk2>
        <a:srgbClr val="0F2A2E"/>
      </a:dk2>
      <a:lt2>
        <a:srgbClr val="EEF4F3"/>
      </a:lt2>
      <a:accent1>
        <a:srgbClr val="0E7C7B"/>
      </a:accent1>
      <a:accent2>
        <a:srgbClr val="F2A33A"/>
      </a:accent2>
      <a:accent3>
        <a:srgbClr val="5BB5A8"/>
      </a:accent3>
      <a:accent4>
        <a:srgbClr val="C8553D"/>
      </a:accent4>
      <a:accent5>
        <a:srgbClr val="566B6E"/>
      </a:accent5>
      <a:accent6>
        <a:srgbClr val="CFE5E2"/>
      </a:accent6>
      <a:hlink>
        <a:srgbClr val="0E7C7B"/>
      </a:hlink>
      <a:folHlink>
        <a:srgbClr val="566B6E"/>
      </a:folHlink>
    </a:clrScheme>
    <a:fontScheme name="BrandChe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BrandCheck - Team Voxen</dc:title>
  <dc:subject>PptxGenJS Presentation</dc:subject>
  <dc:creator>Team Voxen</dc:creator>
  <cp:lastModifiedBy>Team Voxen</cp:lastModifiedBy>
  <cp:revision>1</cp:revision>
  <dcterms:created xsi:type="dcterms:W3CDTF">2026-10-20T11:58:00Z</dcterms:created>
  <dcterms:modified xsi:type="dcterms:W3CDTF">2026-10-20T11:58:00Z</dcterms:modified>
</cp:coreProperties>
</file>